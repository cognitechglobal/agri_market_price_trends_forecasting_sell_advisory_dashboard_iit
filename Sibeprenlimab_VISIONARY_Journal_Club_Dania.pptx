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3883" autoAdjust="0"/>
  </p:normalViewPr>
  <p:slideViewPr>
    <p:cSldViewPr snapToGrid="0" snapToObjects="1">
      <p:cViewPr>
        <p:scale>
          <a:sx n="47" d="100"/>
          <a:sy n="47" d="100"/>
        </p:scale>
        <p:origin x="1324" y="42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layout/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Change in UPCR (%)</c:v>
                </c:pt>
              </c:strCache>
            </c:strRef>
          </c:tx>
          <c:invertIfNegative val="1"/>
          <c:cat>
            <c:strRef>
              <c:f>Sheet1!$A$2:$A$3</c:f>
              <c:strCache>
                <c:ptCount val="2"/>
                <c:pt idx="0">
                  <c:v>SIBEPRENLIMAB</c:v>
                </c:pt>
                <c:pt idx="1">
                  <c:v>PLACEBO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-50.2</c:v>
                </c:pt>
                <c:pt idx="1">
                  <c:v>2.1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0C0-47F1-BFEE-9A952F8955E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5"/>
          <c:min val="-60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EEC5F6-02FA-46D1-8A30-A8A89231E42E}" type="datetimeFigureOut">
              <a:rPr lang="en-US" smtClean="0"/>
              <a:t>10-Aug-26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6EDD6C-AEA9-4AF2-A47A-A70580A79A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5286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6EDD6C-AEA9-4AF2-A47A-A70580A79A9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14906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10-Aug-26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10-Aug-26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10-Aug-26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10-Aug-26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10-Aug-26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10-Aug-26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32657"/>
            <a:ext cx="12191695" cy="6858000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084218"/>
            <a:ext cx="7772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FFFFFF"/>
                </a:solidFill>
                <a:latin typeface="Aptos"/>
              </a:defRPr>
            </a:pPr>
            <a:r>
              <a:t>SIBEPRENLIMAB IN</a:t>
            </a:r>
            <a:br/>
            <a:r>
              <a:t>IgA NEPHROPATHY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9228" y="2740967"/>
            <a:ext cx="87847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BEE1E2"/>
                </a:solidFill>
                <a:latin typeface="Aptos"/>
              </a:defRPr>
            </a:pPr>
            <a:r>
              <a:rPr sz="2400" dirty="0"/>
              <a:t>A Phase 3 Randomized, Double-Blind, Placebo-Controlled Trial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758952" y="3703320"/>
            <a:ext cx="7851648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FFFFFF"/>
                </a:solidFill>
                <a:latin typeface="Aptos"/>
              </a:defRPr>
            </a:pPr>
            <a:r>
              <a:rPr dirty="0"/>
              <a:t>VISIONARY • New England Journal of Medicine • 2026</a:t>
            </a:r>
          </a:p>
        </p:txBody>
      </p:sp>
      <p:sp>
        <p:nvSpPr>
          <p:cNvPr id="6" name="Oval 5"/>
          <p:cNvSpPr/>
          <p:nvPr/>
        </p:nvSpPr>
        <p:spPr>
          <a:xfrm>
            <a:off x="9144000" y="1280160"/>
            <a:ext cx="1828800" cy="1828800"/>
          </a:xfrm>
          <a:prstGeom prst="ellipse">
            <a:avLst/>
          </a:prstGeom>
          <a:solidFill>
            <a:srgbClr val="2A8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76505" y="1801502"/>
            <a:ext cx="18288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Aptos"/>
              </a:defRPr>
            </a:pPr>
            <a:r>
              <a:rPr sz="4400" dirty="0"/>
              <a:t>IgA</a:t>
            </a:r>
            <a:endParaRPr dirty="0"/>
          </a:p>
        </p:txBody>
      </p:sp>
      <p:sp>
        <p:nvSpPr>
          <p:cNvPr id="8" name="Oval 7"/>
          <p:cNvSpPr/>
          <p:nvPr/>
        </p:nvSpPr>
        <p:spPr>
          <a:xfrm>
            <a:off x="8588829" y="3260519"/>
            <a:ext cx="1234440" cy="1234440"/>
          </a:xfrm>
          <a:prstGeom prst="ellipse">
            <a:avLst/>
          </a:prstGeom>
          <a:solidFill>
            <a:srgbClr val="427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88829" y="3693073"/>
            <a:ext cx="119742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rPr sz="2400" dirty="0"/>
              <a:t>APRIL</a:t>
            </a:r>
            <a:endParaRPr dirty="0"/>
          </a:p>
        </p:txBody>
      </p:sp>
      <p:sp>
        <p:nvSpPr>
          <p:cNvPr id="10" name="Oval 9"/>
          <p:cNvSpPr/>
          <p:nvPr/>
        </p:nvSpPr>
        <p:spPr>
          <a:xfrm>
            <a:off x="10058400" y="3657600"/>
            <a:ext cx="1005840" cy="1005840"/>
          </a:xfrm>
          <a:prstGeom prst="ellipse">
            <a:avLst/>
          </a:prstGeom>
          <a:solidFill>
            <a:srgbClr val="4389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940834" y="3825241"/>
            <a:ext cx="124097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rPr dirty="0"/>
              <a:t>↓</a:t>
            </a:r>
            <a:br>
              <a:rPr dirty="0"/>
            </a:br>
            <a:r>
              <a:rPr dirty="0"/>
              <a:t>UPCR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2402" y="-32657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594359" y="73152"/>
            <a:ext cx="1110778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62A3E"/>
                </a:solidFill>
                <a:latin typeface="Aptos"/>
              </a:defRPr>
            </a:pPr>
            <a:r>
              <a:rPr lang="en-US" dirty="0" smtClean="0"/>
              <a:t>IgA NEPHROPATHY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648" y="1207008"/>
            <a:ext cx="914400" cy="54864"/>
          </a:xfrm>
          <a:prstGeom prst="rect">
            <a:avLst/>
          </a:prstGeom>
          <a:solidFill>
            <a:srgbClr val="2A8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1563624"/>
            <a:ext cx="3291840" cy="3474720"/>
          </a:xfrm>
          <a:prstGeom prst="roundRect">
            <a:avLst/>
          </a:prstGeom>
          <a:solidFill>
            <a:srgbClr val="EFF5F7"/>
          </a:solidFill>
          <a:ln>
            <a:solidFill>
              <a:srgbClr val="DC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5062" y="1837944"/>
            <a:ext cx="379693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A8084"/>
                </a:solidFill>
                <a:latin typeface="Aptos"/>
              </a:defRPr>
            </a:pPr>
            <a:r>
              <a:rPr sz="1600" dirty="0"/>
              <a:t>IgA deposition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23311"/>
            <a:ext cx="292608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32D34"/>
                </a:solidFill>
                <a:latin typeface="Aptos"/>
              </a:defRPr>
            </a:pPr>
            <a:r>
              <a:rPr sz="1600" dirty="0"/>
              <a:t>IgA-containing immune complexes deposit in the </a:t>
            </a:r>
            <a:r>
              <a:rPr sz="1600" dirty="0" smtClean="0"/>
              <a:t>glomerulus</a:t>
            </a:r>
            <a:r>
              <a:rPr lang="en-US" sz="1600" dirty="0" smtClean="0"/>
              <a:t>( </a:t>
            </a:r>
            <a:r>
              <a:rPr lang="en-US" sz="1600" dirty="0" err="1" smtClean="0"/>
              <a:t>mesangium</a:t>
            </a:r>
            <a:r>
              <a:rPr lang="en-US" sz="1600" dirty="0" smtClean="0"/>
              <a:t> ) </a:t>
            </a:r>
            <a:r>
              <a:rPr sz="1600" dirty="0" smtClean="0"/>
              <a:t>and </a:t>
            </a:r>
            <a:r>
              <a:rPr sz="1600" dirty="0"/>
              <a:t>trigger inflammation</a:t>
            </a:r>
            <a:r>
              <a:rPr sz="1400" dirty="0"/>
              <a:t>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554480"/>
            <a:ext cx="3291840" cy="3474720"/>
          </a:xfrm>
          <a:prstGeom prst="roundRect">
            <a:avLst/>
          </a:prstGeom>
          <a:solidFill>
            <a:srgbClr val="EFF5F7"/>
          </a:solidFill>
          <a:ln>
            <a:solidFill>
              <a:srgbClr val="DC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800600" y="1818364"/>
            <a:ext cx="28346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4274AA"/>
                </a:solidFill>
                <a:latin typeface="Aptos"/>
              </a:defRPr>
            </a:pPr>
            <a:r>
              <a:rPr sz="1600" dirty="0"/>
              <a:t>Progression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423311"/>
            <a:ext cx="292608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32D34"/>
                </a:solidFill>
                <a:latin typeface="Aptos"/>
              </a:defRPr>
            </a:pPr>
            <a:r>
              <a:rPr sz="1600" dirty="0"/>
              <a:t>Persistent proteinuria can accompany progressive </a:t>
            </a:r>
            <a:r>
              <a:rPr sz="1600" dirty="0" err="1"/>
              <a:t>eGFR</a:t>
            </a:r>
            <a:r>
              <a:rPr sz="1600" dirty="0"/>
              <a:t> decline, CKD and kidney failure.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554480"/>
            <a:ext cx="3291840" cy="3474720"/>
          </a:xfrm>
          <a:prstGeom prst="roundRect">
            <a:avLst/>
          </a:prstGeom>
          <a:solidFill>
            <a:srgbClr val="EFF5F7"/>
          </a:solidFill>
          <a:ln>
            <a:solidFill>
              <a:srgbClr val="DC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510451" y="1837944"/>
            <a:ext cx="29260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438963"/>
                </a:solidFill>
                <a:latin typeface="Aptos"/>
              </a:defRPr>
            </a:pPr>
            <a:r>
              <a:rPr sz="1600" dirty="0"/>
              <a:t>Treatment goal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10451" y="2500032"/>
            <a:ext cx="292608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32D34"/>
                </a:solidFill>
                <a:latin typeface="Aptos"/>
              </a:defRPr>
            </a:pPr>
            <a:r>
              <a:rPr sz="1600" dirty="0"/>
              <a:t>Reduce proteinuria and, ultimately, preserve kidney function.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30235" y="1"/>
            <a:ext cx="122674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5246" y="238615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62A3E"/>
                </a:solidFill>
                <a:latin typeface="Aptos"/>
              </a:defRPr>
            </a:pPr>
            <a:r>
              <a:rPr dirty="0" err="1"/>
              <a:t>IgAN</a:t>
            </a:r>
            <a:r>
              <a:rPr dirty="0"/>
              <a:t> pathogenesis: the 4-hit model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207008"/>
            <a:ext cx="914400" cy="54864"/>
          </a:xfrm>
          <a:prstGeom prst="rect">
            <a:avLst/>
          </a:prstGeom>
          <a:solidFill>
            <a:srgbClr val="2A8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61486" y="1545449"/>
            <a:ext cx="854094" cy="778301"/>
          </a:xfrm>
          <a:prstGeom prst="ellipse">
            <a:avLst/>
          </a:prstGeom>
          <a:solidFill>
            <a:srgbClr val="2A8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04742" y="1793364"/>
            <a:ext cx="9326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rPr dirty="0"/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039" y="2423160"/>
            <a:ext cx="2783476" cy="2214154"/>
          </a:xfrm>
          <a:prstGeom prst="roundRect">
            <a:avLst/>
          </a:prstGeom>
          <a:solidFill>
            <a:srgbClr val="EFF5F7"/>
          </a:solidFill>
          <a:ln>
            <a:solidFill>
              <a:srgbClr val="DC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24910" y="2572349"/>
            <a:ext cx="2762794" cy="3344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A8084"/>
                </a:solidFill>
                <a:latin typeface="Aptos"/>
              </a:defRPr>
            </a:pPr>
            <a:r>
              <a:rPr lang="en-US" dirty="0" smtClean="0"/>
              <a:t>Hit 1 -- </a:t>
            </a:r>
            <a:r>
              <a:rPr dirty="0" smtClean="0"/>
              <a:t>Gd-IgA1</a:t>
            </a:r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117222" y="2739553"/>
            <a:ext cx="2772591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Aptos"/>
              </a:rPr>
              <a:t>The body produces increased amounts of </a:t>
            </a:r>
            <a:r>
              <a:rPr lang="en-US" sz="1600" b="1" dirty="0">
                <a:latin typeface="Aptos"/>
              </a:rPr>
              <a:t>galactose-deficient IgA1 (Gd-IgA1)</a:t>
            </a:r>
            <a:r>
              <a:rPr lang="en-US" sz="1600" dirty="0">
                <a:latin typeface="Aptos"/>
              </a:rPr>
              <a:t>.</a:t>
            </a:r>
            <a:br>
              <a:rPr lang="en-US" sz="1600" dirty="0">
                <a:latin typeface="Aptos"/>
              </a:rPr>
            </a:br>
            <a:r>
              <a:rPr lang="en-US" sz="1600" dirty="0">
                <a:latin typeface="Aptos"/>
              </a:rPr>
              <a:t>→ This is the abnormal form of IgA1 that initiates the process.</a:t>
            </a:r>
          </a:p>
          <a:p>
            <a:endParaRPr lang="en-US" sz="1400" dirty="0"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406318" y="1747287"/>
            <a:ext cx="675207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69747C"/>
                </a:solidFill>
                <a:latin typeface="Aptos"/>
              </a:defRPr>
            </a:pPr>
            <a:r>
              <a:rPr dirty="0"/>
              <a:t>→</a:t>
            </a:r>
          </a:p>
        </p:txBody>
      </p:sp>
      <p:sp>
        <p:nvSpPr>
          <p:cNvPr id="11" name="Oval 10"/>
          <p:cNvSpPr/>
          <p:nvPr/>
        </p:nvSpPr>
        <p:spPr>
          <a:xfrm>
            <a:off x="3903802" y="1525116"/>
            <a:ext cx="885218" cy="777017"/>
          </a:xfrm>
          <a:prstGeom prst="ellipse">
            <a:avLst/>
          </a:prstGeom>
          <a:solidFill>
            <a:srgbClr val="2A8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725516" y="1721795"/>
            <a:ext cx="12213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rPr dirty="0"/>
              <a:t>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88346" y="2430149"/>
            <a:ext cx="2900826" cy="2205859"/>
          </a:xfrm>
          <a:prstGeom prst="roundRect">
            <a:avLst/>
          </a:prstGeom>
          <a:solidFill>
            <a:srgbClr val="EFF5F7"/>
          </a:solidFill>
          <a:ln>
            <a:solidFill>
              <a:srgbClr val="DC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993746" y="2588166"/>
            <a:ext cx="3056489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4274AA"/>
                </a:solidFill>
                <a:latin typeface="Aptos"/>
              </a:defRPr>
            </a:pPr>
            <a:r>
              <a:rPr lang="en-US" sz="1500" b="1" dirty="0" smtClean="0"/>
              <a:t>Hit 2-- Autoantibody </a:t>
            </a:r>
            <a:r>
              <a:rPr lang="en-US" sz="1500" b="1" dirty="0"/>
              <a:t>formation</a:t>
            </a:r>
            <a:endParaRPr dirty="0"/>
          </a:p>
        </p:txBody>
      </p:sp>
      <p:sp>
        <p:nvSpPr>
          <p:cNvPr id="15" name="TextBox 14"/>
          <p:cNvSpPr txBox="1"/>
          <p:nvPr/>
        </p:nvSpPr>
        <p:spPr>
          <a:xfrm>
            <a:off x="3170871" y="3000456"/>
            <a:ext cx="2626723" cy="1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32D34"/>
                </a:solidFill>
                <a:latin typeface="Aptos"/>
              </a:defRPr>
            </a:pPr>
            <a:r>
              <a:rPr lang="en-US" sz="1600" dirty="0"/>
              <a:t>The immune system produces </a:t>
            </a:r>
            <a:r>
              <a:rPr lang="en-US" sz="1600" b="1" dirty="0"/>
              <a:t>IgG and/or IgA autoantibodies</a:t>
            </a:r>
            <a:r>
              <a:rPr lang="en-US" sz="1600" dirty="0"/>
              <a:t> that recognize the abnormal </a:t>
            </a:r>
            <a:r>
              <a:rPr lang="en-US" sz="1600" dirty="0" smtClean="0"/>
              <a:t>Gd-IgA1</a:t>
            </a:r>
          </a:p>
          <a:p>
            <a:pPr>
              <a:defRPr sz="1300" b="0">
                <a:solidFill>
                  <a:srgbClr val="232D34"/>
                </a:solidFill>
                <a:latin typeface="Aptos"/>
              </a:defRPr>
            </a:pPr>
            <a:endParaRPr dirty="0"/>
          </a:p>
        </p:txBody>
      </p:sp>
      <p:sp>
        <p:nvSpPr>
          <p:cNvPr id="16" name="TextBox 15"/>
          <p:cNvSpPr txBox="1"/>
          <p:nvPr/>
        </p:nvSpPr>
        <p:spPr>
          <a:xfrm>
            <a:off x="5569827" y="1793364"/>
            <a:ext cx="791574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69747C"/>
                </a:solidFill>
                <a:latin typeface="Aptos"/>
              </a:defRPr>
            </a:pPr>
            <a:r>
              <a:rPr dirty="0"/>
              <a:t>→</a:t>
            </a:r>
          </a:p>
        </p:txBody>
      </p:sp>
      <p:sp>
        <p:nvSpPr>
          <p:cNvPr id="17" name="Oval 16"/>
          <p:cNvSpPr/>
          <p:nvPr/>
        </p:nvSpPr>
        <p:spPr>
          <a:xfrm>
            <a:off x="7005392" y="1564351"/>
            <a:ext cx="862368" cy="792307"/>
          </a:xfrm>
          <a:prstGeom prst="ellipse">
            <a:avLst/>
          </a:prstGeom>
          <a:solidFill>
            <a:srgbClr val="2A8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28311" y="1906652"/>
            <a:ext cx="11743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rPr dirty="0"/>
              <a:t>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99048" y="2451474"/>
            <a:ext cx="2957504" cy="2185840"/>
          </a:xfrm>
          <a:prstGeom prst="roundRect">
            <a:avLst/>
          </a:prstGeom>
          <a:solidFill>
            <a:srgbClr val="EFF5F7"/>
          </a:solidFill>
          <a:ln>
            <a:solidFill>
              <a:srgbClr val="DC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236206" y="2524190"/>
            <a:ext cx="3147929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A8084"/>
                </a:solidFill>
                <a:latin typeface="Aptos"/>
              </a:defRPr>
            </a:pPr>
            <a:r>
              <a:rPr lang="en-US" sz="1500" b="1" dirty="0"/>
              <a:t>Hit </a:t>
            </a:r>
            <a:r>
              <a:rPr lang="en-US" sz="1500" b="1" dirty="0" smtClean="0"/>
              <a:t>--- </a:t>
            </a:r>
            <a:r>
              <a:rPr lang="en-US" sz="1500" b="1" dirty="0"/>
              <a:t>Immune-complex formation</a:t>
            </a:r>
            <a:endParaRPr dirty="0"/>
          </a:p>
        </p:txBody>
      </p:sp>
      <p:sp>
        <p:nvSpPr>
          <p:cNvPr id="21" name="TextBox 20"/>
          <p:cNvSpPr txBox="1"/>
          <p:nvPr/>
        </p:nvSpPr>
        <p:spPr>
          <a:xfrm>
            <a:off x="6206275" y="3150904"/>
            <a:ext cx="3047343" cy="1277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32D34"/>
                </a:solidFill>
                <a:latin typeface="Aptos"/>
              </a:defRPr>
            </a:pPr>
            <a:r>
              <a:rPr lang="en-US" sz="1600" dirty="0"/>
              <a:t>Gd-IgA1 combines with these autoantibodies to form </a:t>
            </a:r>
            <a:r>
              <a:rPr lang="en-US" sz="1600" b="1" dirty="0"/>
              <a:t>circulating immune complexes</a:t>
            </a:r>
            <a:r>
              <a:rPr lang="en-US" sz="1600" dirty="0"/>
              <a:t>.</a:t>
            </a:r>
          </a:p>
          <a:p>
            <a:pPr>
              <a:defRPr sz="1300" b="0">
                <a:solidFill>
                  <a:srgbClr val="232D34"/>
                </a:solidFill>
                <a:latin typeface="Aptos"/>
              </a:defRPr>
            </a:pPr>
            <a:endParaRPr dirty="0"/>
          </a:p>
        </p:txBody>
      </p:sp>
      <p:sp>
        <p:nvSpPr>
          <p:cNvPr id="22" name="TextBox 21"/>
          <p:cNvSpPr txBox="1"/>
          <p:nvPr/>
        </p:nvSpPr>
        <p:spPr>
          <a:xfrm>
            <a:off x="7947222" y="1811547"/>
            <a:ext cx="2064151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69747C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3" name="Oval 22"/>
          <p:cNvSpPr/>
          <p:nvPr/>
        </p:nvSpPr>
        <p:spPr>
          <a:xfrm>
            <a:off x="10138225" y="1601544"/>
            <a:ext cx="855395" cy="714853"/>
          </a:xfrm>
          <a:prstGeom prst="ellipse">
            <a:avLst/>
          </a:prstGeom>
          <a:solidFill>
            <a:srgbClr val="BE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235439" y="1760676"/>
            <a:ext cx="25373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262873" y="2430148"/>
            <a:ext cx="2874391" cy="2205859"/>
          </a:xfrm>
          <a:prstGeom prst="roundRect">
            <a:avLst/>
          </a:prstGeom>
          <a:solidFill>
            <a:srgbClr val="EFF5F7"/>
          </a:solidFill>
          <a:ln>
            <a:solidFill>
              <a:srgbClr val="DC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322081" y="2572349"/>
            <a:ext cx="291134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BE5050"/>
                </a:solidFill>
                <a:latin typeface="Aptos"/>
              </a:defRPr>
            </a:pPr>
            <a:r>
              <a:rPr lang="en-US" sz="1600" dirty="0" smtClean="0"/>
              <a:t>Hit 4 --- </a:t>
            </a:r>
            <a:r>
              <a:rPr sz="1600" dirty="0" smtClean="0"/>
              <a:t>Glomerular </a:t>
            </a:r>
            <a:r>
              <a:rPr sz="1600" dirty="0"/>
              <a:t>injury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59938" y="2918930"/>
            <a:ext cx="2914285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32D34"/>
                </a:solidFill>
                <a:latin typeface="Aptos"/>
              </a:defRPr>
            </a:pPr>
            <a:r>
              <a:rPr lang="en-US" sz="1600" dirty="0"/>
              <a:t>→ Mesangial proliferation</a:t>
            </a:r>
            <a:br>
              <a:rPr lang="en-US" sz="1600" dirty="0"/>
            </a:br>
            <a:r>
              <a:rPr lang="en-US" sz="1600" dirty="0"/>
              <a:t>→ Complement activation</a:t>
            </a:r>
            <a:br>
              <a:rPr lang="en-US" sz="1600" dirty="0"/>
            </a:br>
            <a:r>
              <a:rPr lang="en-US" sz="1600" dirty="0"/>
              <a:t>→ Glomerular injury</a:t>
            </a:r>
            <a:br>
              <a:rPr lang="en-US" sz="1600" dirty="0"/>
            </a:br>
            <a:r>
              <a:rPr lang="en-US" sz="1600" dirty="0"/>
              <a:t>→ </a:t>
            </a:r>
            <a:r>
              <a:rPr lang="en-US" sz="1600" b="1" dirty="0"/>
              <a:t>Hematuria + proteinuria</a:t>
            </a:r>
            <a:r>
              <a:rPr lang="en-US" sz="1600" dirty="0"/>
              <a:t/>
            </a:r>
            <a:br>
              <a:rPr lang="en-US" sz="1600" dirty="0"/>
            </a:br>
            <a:r>
              <a:rPr lang="en-US" sz="1600" dirty="0"/>
              <a:t>→ Progressive </a:t>
            </a:r>
            <a:r>
              <a:rPr lang="en-US" sz="1600" b="1" dirty="0" err="1"/>
              <a:t>eGFR</a:t>
            </a:r>
            <a:r>
              <a:rPr lang="en-US" sz="1600" b="1" dirty="0"/>
              <a:t> </a:t>
            </a:r>
            <a:r>
              <a:rPr lang="en-US" sz="1600" b="1" dirty="0" smtClean="0"/>
              <a:t>decline/CKD</a:t>
            </a:r>
            <a:endParaRPr sz="1600" dirty="0"/>
          </a:p>
        </p:txBody>
      </p:sp>
      <p:sp>
        <p:nvSpPr>
          <p:cNvPr id="28" name="TextBox 27"/>
          <p:cNvSpPr txBox="1"/>
          <p:nvPr/>
        </p:nvSpPr>
        <p:spPr>
          <a:xfrm>
            <a:off x="117222" y="4892040"/>
            <a:ext cx="1183093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62A3E"/>
                </a:solidFill>
                <a:latin typeface="Aptos"/>
              </a:defRPr>
            </a:pPr>
            <a:r>
              <a:rPr lang="en-US" sz="2000" dirty="0"/>
              <a:t>The cytokine A proliferation-inducing ligand (APRIL</a:t>
            </a:r>
            <a:r>
              <a:rPr lang="en-US" sz="2000" dirty="0" smtClean="0"/>
              <a:t>)</a:t>
            </a:r>
            <a:r>
              <a:rPr dirty="0" smtClean="0"/>
              <a:t> </a:t>
            </a:r>
            <a:r>
              <a:rPr lang="en-US" dirty="0" smtClean="0"/>
              <a:t>Upstream</a:t>
            </a:r>
            <a:r>
              <a:rPr dirty="0" smtClean="0"/>
              <a:t> </a:t>
            </a:r>
            <a:r>
              <a:rPr dirty="0"/>
              <a:t>B-cell / plasma-cell signaling and IgA </a:t>
            </a:r>
            <a:r>
              <a:rPr dirty="0" smtClean="0"/>
              <a:t>production</a:t>
            </a:r>
            <a:endParaRPr lang="en-US" dirty="0" smtClean="0"/>
          </a:p>
        </p:txBody>
      </p:sp>
      <p:sp>
        <p:nvSpPr>
          <p:cNvPr id="30" name="TextBox 29"/>
          <p:cNvSpPr txBox="1"/>
          <p:nvPr/>
        </p:nvSpPr>
        <p:spPr>
          <a:xfrm rot="10800000" flipV="1">
            <a:off x="1527048" y="796859"/>
            <a:ext cx="106755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ptos"/>
              </a:rPr>
              <a:t>explains how the disease develops from abnormal IgA production to glomerular injury</a:t>
            </a:r>
            <a:r>
              <a:rPr lang="en-US" dirty="0">
                <a:latin typeface="Aptos"/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60808" y="-8709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62A3E"/>
                </a:solidFill>
                <a:latin typeface="Aptos"/>
              </a:defRPr>
            </a:pPr>
            <a:r>
              <a:rPr sz="3200" dirty="0"/>
              <a:t>The intervention: </a:t>
            </a:r>
            <a:r>
              <a:rPr sz="3200" dirty="0" err="1"/>
              <a:t>sibeprenlimab</a:t>
            </a:r>
            <a:endParaRPr sz="3200" dirty="0"/>
          </a:p>
        </p:txBody>
      </p:sp>
      <p:sp>
        <p:nvSpPr>
          <p:cNvPr id="4" name="TextBox 3"/>
          <p:cNvSpPr txBox="1"/>
          <p:nvPr/>
        </p:nvSpPr>
        <p:spPr>
          <a:xfrm>
            <a:off x="612648" y="1260566"/>
            <a:ext cx="107899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9747C"/>
                </a:solidFill>
                <a:latin typeface="Aptos"/>
              </a:defRPr>
            </a:pPr>
            <a:r>
              <a:rPr sz="1600" dirty="0"/>
              <a:t>A mechanism-based approach</a:t>
            </a:r>
            <a:endParaRPr dirty="0"/>
          </a:p>
        </p:txBody>
      </p:sp>
      <p:sp>
        <p:nvSpPr>
          <p:cNvPr id="5" name="Rectangle 4"/>
          <p:cNvSpPr/>
          <p:nvPr/>
        </p:nvSpPr>
        <p:spPr>
          <a:xfrm>
            <a:off x="612648" y="1207008"/>
            <a:ext cx="914400" cy="54864"/>
          </a:xfrm>
          <a:prstGeom prst="rect">
            <a:avLst/>
          </a:prstGeom>
          <a:solidFill>
            <a:srgbClr val="2A8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39685" y="1874519"/>
            <a:ext cx="1350917" cy="1371601"/>
          </a:xfrm>
          <a:prstGeom prst="ellipse">
            <a:avLst/>
          </a:prstGeom>
          <a:solidFill>
            <a:srgbClr val="427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2344978"/>
            <a:ext cx="1234440" cy="55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APRIL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31720" y="23317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69747C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9" name="Oval 8"/>
          <p:cNvSpPr/>
          <p:nvPr/>
        </p:nvSpPr>
        <p:spPr>
          <a:xfrm>
            <a:off x="2926080" y="1874519"/>
            <a:ext cx="1508760" cy="1508760"/>
          </a:xfrm>
          <a:prstGeom prst="ellipse">
            <a:avLst/>
          </a:prstGeom>
          <a:solidFill>
            <a:srgbClr val="2A8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926080" y="2281885"/>
            <a:ext cx="1508760" cy="678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t>Sibe-</a:t>
            </a:r>
            <a:br/>
            <a:r>
              <a:t>prenlimab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23317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69747C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2" name="Oval 11"/>
          <p:cNvSpPr/>
          <p:nvPr/>
        </p:nvSpPr>
        <p:spPr>
          <a:xfrm>
            <a:off x="5349240" y="2011680"/>
            <a:ext cx="1234440" cy="1234440"/>
          </a:xfrm>
          <a:prstGeom prst="ellipse">
            <a:avLst/>
          </a:prstGeom>
          <a:solidFill>
            <a:srgbClr val="4389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326380" y="2376361"/>
            <a:ext cx="12344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rPr sz="2000" dirty="0"/>
              <a:t>↓ IgA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03720" y="23317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69747C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5" name="Oval 14"/>
          <p:cNvSpPr/>
          <p:nvPr/>
        </p:nvSpPr>
        <p:spPr>
          <a:xfrm>
            <a:off x="7549242" y="2110465"/>
            <a:ext cx="1366157" cy="1272814"/>
          </a:xfrm>
          <a:prstGeom prst="ellipse">
            <a:avLst/>
          </a:prstGeom>
          <a:solidFill>
            <a:srgbClr val="427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589520" y="2264663"/>
            <a:ext cx="1234440" cy="55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rPr dirty="0"/>
              <a:t>↓</a:t>
            </a:r>
            <a:br>
              <a:rPr dirty="0"/>
            </a:br>
            <a:r>
              <a:rPr dirty="0"/>
              <a:t>immune</a:t>
            </a:r>
            <a:br>
              <a:rPr dirty="0"/>
            </a:br>
            <a:r>
              <a:rPr dirty="0"/>
              <a:t>complexes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98280" y="23317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69747C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8" name="Oval 17"/>
          <p:cNvSpPr/>
          <p:nvPr/>
        </p:nvSpPr>
        <p:spPr>
          <a:xfrm>
            <a:off x="9738360" y="2011680"/>
            <a:ext cx="1234440" cy="1234440"/>
          </a:xfrm>
          <a:prstGeom prst="ellipse">
            <a:avLst/>
          </a:prstGeom>
          <a:solidFill>
            <a:srgbClr val="4389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738360" y="2344978"/>
            <a:ext cx="12344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rPr sz="1600" dirty="0"/>
              <a:t>↓ kidney</a:t>
            </a:r>
            <a:br>
              <a:rPr sz="1600" dirty="0"/>
            </a:br>
            <a:r>
              <a:rPr sz="1600" dirty="0"/>
              <a:t>injury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3452938"/>
            <a:ext cx="10579608" cy="1410589"/>
          </a:xfrm>
          <a:prstGeom prst="roundRect">
            <a:avLst/>
          </a:prstGeom>
          <a:solidFill>
            <a:srgbClr val="EFF5F7"/>
          </a:solidFill>
          <a:ln>
            <a:solidFill>
              <a:srgbClr val="DC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161902" y="3683647"/>
            <a:ext cx="5943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A8084"/>
                </a:solidFill>
                <a:latin typeface="Aptos"/>
              </a:defRPr>
            </a:pPr>
            <a:r>
              <a:rPr sz="1600" dirty="0"/>
              <a:t>Dose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62200" y="4175759"/>
            <a:ext cx="59131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32D34"/>
                </a:solidFill>
                <a:latin typeface="Aptos"/>
              </a:defRPr>
            </a:pPr>
            <a:r>
              <a:rPr sz="1600" b="1" dirty="0"/>
              <a:t>400 mg subcutaneous injection every 4 weeks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5088" y="9144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12648" y="1207008"/>
            <a:ext cx="914400" cy="54864"/>
          </a:xfrm>
          <a:prstGeom prst="rect">
            <a:avLst/>
          </a:prstGeom>
          <a:solidFill>
            <a:srgbClr val="2A8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12648" y="1604522"/>
            <a:ext cx="2606040" cy="3566160"/>
          </a:xfrm>
          <a:prstGeom prst="roundRect">
            <a:avLst/>
          </a:prstGeom>
          <a:solidFill>
            <a:srgbClr val="EFF5F7"/>
          </a:solidFill>
          <a:ln>
            <a:solidFill>
              <a:srgbClr val="DC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2785" y="1685544"/>
            <a:ext cx="339852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A8084"/>
                </a:solidFill>
                <a:latin typeface="Aptos"/>
              </a:defRPr>
            </a:pPr>
            <a:r>
              <a:rPr sz="1600" dirty="0"/>
              <a:t>P — </a:t>
            </a:r>
            <a:r>
              <a:rPr sz="1600" dirty="0" smtClean="0"/>
              <a:t>P</a:t>
            </a:r>
            <a:r>
              <a:rPr lang="en-US" sz="1600" dirty="0" smtClean="0"/>
              <a:t>OPULATION</a:t>
            </a:r>
            <a:endParaRPr sz="1600" dirty="0"/>
          </a:p>
        </p:txBody>
      </p:sp>
      <p:sp>
        <p:nvSpPr>
          <p:cNvPr id="8" name="TextBox 7"/>
          <p:cNvSpPr txBox="1"/>
          <p:nvPr/>
        </p:nvSpPr>
        <p:spPr>
          <a:xfrm>
            <a:off x="856640" y="2501908"/>
            <a:ext cx="2118055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32D34"/>
                </a:solidFill>
                <a:latin typeface="Aptos"/>
              </a:defRPr>
            </a:pPr>
            <a:r>
              <a:rPr sz="1600" b="1" dirty="0">
                <a:latin typeface="Aptos"/>
                <a:cs typeface="Arial" panose="020B0604020202020204" pitchFamily="34" charset="0"/>
              </a:rPr>
              <a:t>Adults with </a:t>
            </a:r>
            <a:r>
              <a:rPr lang="en-US" sz="1600" b="1" dirty="0" smtClean="0">
                <a:latin typeface="Aptos"/>
                <a:cs typeface="Arial" panose="020B0604020202020204" pitchFamily="34" charset="0"/>
              </a:rPr>
              <a:t>B</a:t>
            </a:r>
            <a:r>
              <a:rPr sz="1600" b="1" dirty="0" smtClean="0">
                <a:latin typeface="Aptos"/>
                <a:cs typeface="Arial" panose="020B0604020202020204" pitchFamily="34" charset="0"/>
              </a:rPr>
              <a:t>iopsy-confirmed </a:t>
            </a:r>
            <a:r>
              <a:rPr sz="1600" b="1" dirty="0">
                <a:latin typeface="Aptos"/>
                <a:cs typeface="Arial" panose="020B0604020202020204" pitchFamily="34" charset="0"/>
              </a:rPr>
              <a:t>IgA nephropathy at risk of progression.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554480"/>
            <a:ext cx="2606040" cy="3566160"/>
          </a:xfrm>
          <a:prstGeom prst="roundRect">
            <a:avLst/>
          </a:prstGeom>
          <a:solidFill>
            <a:srgbClr val="EFF5F7"/>
          </a:solidFill>
          <a:ln>
            <a:solidFill>
              <a:srgbClr val="DC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11880" y="1700784"/>
            <a:ext cx="224028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4274AA"/>
                </a:solidFill>
                <a:latin typeface="Aptos"/>
              </a:defRPr>
            </a:pPr>
            <a:r>
              <a:rPr dirty="0"/>
              <a:t>I — </a:t>
            </a:r>
            <a:r>
              <a:rPr lang="en-US" dirty="0" smtClean="0"/>
              <a:t>INTERVENTION</a:t>
            </a:r>
            <a:endParaRPr dirty="0"/>
          </a:p>
        </p:txBody>
      </p:sp>
      <p:sp>
        <p:nvSpPr>
          <p:cNvPr id="11" name="TextBox 10"/>
          <p:cNvSpPr txBox="1"/>
          <p:nvPr/>
        </p:nvSpPr>
        <p:spPr>
          <a:xfrm>
            <a:off x="3703319" y="2547687"/>
            <a:ext cx="224028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32D34"/>
                </a:solidFill>
                <a:latin typeface="Aptos"/>
              </a:defRPr>
            </a:pPr>
            <a:r>
              <a:rPr lang="en-US" sz="1600" b="1" dirty="0" smtClean="0"/>
              <a:t>SIBEPRENLIMAB</a:t>
            </a:r>
            <a:r>
              <a:rPr sz="1600" b="1" dirty="0"/>
              <a:t/>
            </a:r>
            <a:br>
              <a:rPr sz="1600" b="1" dirty="0"/>
            </a:br>
            <a:r>
              <a:rPr sz="1600" b="1" dirty="0"/>
              <a:t>400 mg SC every 4 weeks.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554480"/>
            <a:ext cx="2606040" cy="3566160"/>
          </a:xfrm>
          <a:prstGeom prst="roundRect">
            <a:avLst/>
          </a:prstGeom>
          <a:solidFill>
            <a:srgbClr val="EFF5F7"/>
          </a:solidFill>
          <a:ln>
            <a:solidFill>
              <a:srgbClr val="DC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0" y="1700784"/>
            <a:ext cx="224028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A8084"/>
                </a:solidFill>
                <a:latin typeface="Aptos"/>
              </a:defRPr>
            </a:pPr>
            <a:r>
              <a:rPr dirty="0"/>
              <a:t>C — </a:t>
            </a:r>
            <a:r>
              <a:rPr dirty="0" smtClean="0"/>
              <a:t>C</a:t>
            </a:r>
            <a:r>
              <a:rPr lang="en-US" dirty="0" smtClean="0"/>
              <a:t>OMPARISON</a:t>
            </a:r>
            <a:endParaRPr dirty="0"/>
          </a:p>
        </p:txBody>
      </p:sp>
      <p:sp>
        <p:nvSpPr>
          <p:cNvPr id="14" name="TextBox 13"/>
          <p:cNvSpPr txBox="1"/>
          <p:nvPr/>
        </p:nvSpPr>
        <p:spPr>
          <a:xfrm>
            <a:off x="6400800" y="2506563"/>
            <a:ext cx="224028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232D34"/>
                </a:solidFill>
                <a:latin typeface="Aptos"/>
              </a:defRPr>
            </a:pPr>
            <a:r>
              <a:rPr sz="1600" b="1" dirty="0" smtClean="0"/>
              <a:t>P</a:t>
            </a:r>
            <a:r>
              <a:rPr lang="en-US" sz="1600" b="1" dirty="0" smtClean="0"/>
              <a:t>LACEBO</a:t>
            </a:r>
            <a:r>
              <a:rPr sz="1600" b="1" dirty="0" smtClean="0"/>
              <a:t> </a:t>
            </a:r>
            <a:r>
              <a:rPr sz="1600" b="1" dirty="0"/>
              <a:t>under a </a:t>
            </a:r>
            <a:r>
              <a:rPr lang="en-US" sz="1600" b="1" dirty="0" smtClean="0"/>
              <a:t>D</a:t>
            </a:r>
            <a:r>
              <a:rPr sz="1600" b="1" dirty="0" smtClean="0"/>
              <a:t>ouble-</a:t>
            </a:r>
            <a:r>
              <a:rPr lang="en-US" sz="1600" b="1" dirty="0" smtClean="0"/>
              <a:t>B</a:t>
            </a:r>
            <a:r>
              <a:rPr sz="1600" b="1" dirty="0" smtClean="0"/>
              <a:t>lind </a:t>
            </a:r>
            <a:r>
              <a:rPr lang="en-US" sz="1600" b="1" dirty="0" smtClean="0"/>
              <a:t>R</a:t>
            </a:r>
            <a:r>
              <a:rPr sz="1600" b="1" dirty="0" smtClean="0"/>
              <a:t>andomized </a:t>
            </a:r>
            <a:r>
              <a:rPr sz="1600" b="1" dirty="0"/>
              <a:t>design</a:t>
            </a:r>
            <a:r>
              <a:rPr b="1" dirty="0"/>
              <a:t>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06840" y="1554480"/>
            <a:ext cx="2606040" cy="3566160"/>
          </a:xfrm>
          <a:prstGeom prst="roundRect">
            <a:avLst/>
          </a:prstGeom>
          <a:solidFill>
            <a:srgbClr val="EFF5F7"/>
          </a:solidFill>
          <a:ln>
            <a:solidFill>
              <a:srgbClr val="DC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89719" y="1716024"/>
            <a:ext cx="224028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438963"/>
                </a:solidFill>
                <a:latin typeface="Aptos"/>
              </a:defRPr>
            </a:pPr>
            <a:r>
              <a:rPr dirty="0"/>
              <a:t>O — </a:t>
            </a:r>
            <a:r>
              <a:rPr lang="en-US" dirty="0" smtClean="0"/>
              <a:t>OUTCOME</a:t>
            </a:r>
            <a:endParaRPr dirty="0"/>
          </a:p>
        </p:txBody>
      </p:sp>
      <p:sp>
        <p:nvSpPr>
          <p:cNvPr id="17" name="TextBox 16"/>
          <p:cNvSpPr txBox="1"/>
          <p:nvPr/>
        </p:nvSpPr>
        <p:spPr>
          <a:xfrm>
            <a:off x="9189719" y="2501908"/>
            <a:ext cx="224028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32D34"/>
                </a:solidFill>
                <a:latin typeface="Aptos"/>
              </a:defRPr>
            </a:pPr>
            <a:r>
              <a:rPr lang="en-US" sz="1600" b="1" dirty="0" smtClean="0"/>
              <a:t>PRIMARY:</a:t>
            </a:r>
          </a:p>
          <a:p>
            <a:pPr>
              <a:defRPr sz="1300" b="0">
                <a:solidFill>
                  <a:srgbClr val="232D34"/>
                </a:solidFill>
                <a:latin typeface="Aptos"/>
              </a:defRPr>
            </a:pPr>
            <a:r>
              <a:rPr sz="1600" b="1" dirty="0" smtClean="0"/>
              <a:t>P</a:t>
            </a:r>
            <a:r>
              <a:rPr lang="en-US" sz="1600" b="1" dirty="0" smtClean="0"/>
              <a:t>ROTEINURIA(24hrs UPCR)</a:t>
            </a:r>
          </a:p>
          <a:p>
            <a:pPr>
              <a:defRPr sz="1300" b="0">
                <a:solidFill>
                  <a:srgbClr val="232D34"/>
                </a:solidFill>
                <a:latin typeface="Aptos"/>
              </a:defRPr>
            </a:pPr>
            <a:r>
              <a:rPr lang="en-US" sz="1600" b="1" dirty="0" smtClean="0"/>
              <a:t>SECONDARY</a:t>
            </a:r>
            <a:r>
              <a:rPr lang="en-US" sz="1600" b="1" dirty="0"/>
              <a:t>:</a:t>
            </a:r>
            <a:r>
              <a:rPr sz="1600" b="1" dirty="0" smtClean="0"/>
              <a:t> </a:t>
            </a:r>
            <a:endParaRPr lang="en-US" sz="1600" b="1" dirty="0" smtClean="0"/>
          </a:p>
          <a:p>
            <a:pPr>
              <a:defRPr sz="1300" b="0">
                <a:solidFill>
                  <a:srgbClr val="232D34"/>
                </a:solidFill>
                <a:latin typeface="Aptos"/>
              </a:defRPr>
            </a:pPr>
            <a:r>
              <a:rPr lang="en-US" sz="1600" b="1" dirty="0" err="1" smtClean="0"/>
              <a:t>eGFR</a:t>
            </a:r>
            <a:r>
              <a:rPr lang="en-US" sz="1600" b="1" dirty="0" smtClean="0"/>
              <a:t> </a:t>
            </a:r>
            <a:r>
              <a:rPr sz="1600" b="1" dirty="0" smtClean="0"/>
              <a:t>slope</a:t>
            </a:r>
            <a:r>
              <a:rPr sz="1600" b="1" dirty="0"/>
              <a:t>, </a:t>
            </a:r>
            <a:r>
              <a:rPr lang="en-US" sz="1600" b="1" dirty="0" smtClean="0"/>
              <a:t>B</a:t>
            </a:r>
            <a:r>
              <a:rPr sz="1600" b="1" dirty="0" smtClean="0"/>
              <a:t>iomarkers </a:t>
            </a:r>
            <a:r>
              <a:rPr sz="1600" b="1" dirty="0"/>
              <a:t>and safety.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199" y="280333"/>
            <a:ext cx="109728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62A3E"/>
                </a:solidFill>
                <a:latin typeface="Aptos"/>
              </a:defRPr>
            </a:pPr>
            <a:r>
              <a:rPr lang="en-US" sz="2800" b="1" dirty="0" smtClean="0"/>
              <a:t>COMPONENTS OF VISIONARY TRAIL</a:t>
            </a:r>
          </a:p>
          <a:p>
            <a:pPr>
              <a:defRPr sz="2800" b="1">
                <a:solidFill>
                  <a:srgbClr val="162A3E"/>
                </a:solidFill>
                <a:latin typeface="Aptos"/>
              </a:defRPr>
            </a:pPr>
            <a:r>
              <a:rPr lang="en-US" sz="2800" b="1" dirty="0" smtClean="0"/>
              <a:t>PICO Framework</a:t>
            </a:r>
            <a:endParaRPr lang="en-US" sz="2800" b="1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3005" y="-749148"/>
            <a:ext cx="12191695" cy="68579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343342"/>
            <a:ext cx="1095451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62A3E"/>
                </a:solidFill>
                <a:latin typeface="Aptos"/>
              </a:defRPr>
            </a:pPr>
            <a:r>
              <a:rPr dirty="0"/>
              <a:t>Study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45820"/>
            <a:ext cx="107899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9747C"/>
                </a:solidFill>
                <a:latin typeface="Aptos"/>
              </a:defRPr>
            </a:pPr>
            <a:r>
              <a:rPr lang="en-US" dirty="0" smtClean="0"/>
              <a:t> </a:t>
            </a:r>
            <a:endParaRPr dirty="0"/>
          </a:p>
        </p:txBody>
      </p:sp>
      <p:sp>
        <p:nvSpPr>
          <p:cNvPr id="5" name="Rectangle 4"/>
          <p:cNvSpPr/>
          <p:nvPr/>
        </p:nvSpPr>
        <p:spPr>
          <a:xfrm>
            <a:off x="612648" y="1207008"/>
            <a:ext cx="914400" cy="54864"/>
          </a:xfrm>
          <a:prstGeom prst="rect">
            <a:avLst/>
          </a:prstGeom>
          <a:solidFill>
            <a:srgbClr val="2A8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22960" y="1920240"/>
            <a:ext cx="1143000" cy="1143000"/>
          </a:xfrm>
          <a:prstGeom prst="ellipse">
            <a:avLst/>
          </a:prstGeom>
          <a:solidFill>
            <a:srgbClr val="2A8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2228850"/>
            <a:ext cx="1143000" cy="514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ptos"/>
              </a:defRPr>
            </a:pPr>
            <a:r>
              <a:t>510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3200400"/>
            <a:ext cx="171907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69747C"/>
                </a:solidFill>
                <a:latin typeface="Aptos"/>
              </a:defRPr>
            </a:pPr>
            <a:r>
              <a:rPr lang="en-US" sz="1600" dirty="0" smtClean="0"/>
              <a:t>RANDAMIZED</a:t>
            </a:r>
          </a:p>
          <a:p>
            <a:pPr algn="ctr">
              <a:defRPr sz="1200" b="1">
                <a:solidFill>
                  <a:srgbClr val="69747C"/>
                </a:solidFill>
                <a:latin typeface="Aptos"/>
              </a:defRPr>
            </a:pPr>
            <a:r>
              <a:rPr lang="en-US" sz="1600" dirty="0" smtClean="0"/>
              <a:t>1:1</a:t>
            </a:r>
            <a:endParaRPr sz="1600" dirty="0"/>
          </a:p>
        </p:txBody>
      </p:sp>
      <p:sp>
        <p:nvSpPr>
          <p:cNvPr id="9" name="TextBox 8"/>
          <p:cNvSpPr txBox="1"/>
          <p:nvPr/>
        </p:nvSpPr>
        <p:spPr>
          <a:xfrm>
            <a:off x="2148840" y="22860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69747C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51759" y="1600200"/>
            <a:ext cx="2859689" cy="1371600"/>
          </a:xfrm>
          <a:prstGeom prst="roundRect">
            <a:avLst/>
          </a:prstGeom>
          <a:solidFill>
            <a:srgbClr val="EFF5F7"/>
          </a:solidFill>
          <a:ln>
            <a:solidFill>
              <a:srgbClr val="DC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834640" y="1746504"/>
            <a:ext cx="23774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A8084"/>
                </a:solidFill>
                <a:latin typeface="Aptos"/>
              </a:defRPr>
            </a:pPr>
            <a:r>
              <a:rPr lang="en-US" sz="1600" dirty="0" smtClean="0"/>
              <a:t>SIBEPRENLIMAB</a:t>
            </a:r>
            <a:endParaRPr sz="1600" dirty="0"/>
          </a:p>
        </p:txBody>
      </p:sp>
      <p:sp>
        <p:nvSpPr>
          <p:cNvPr id="12" name="TextBox 11"/>
          <p:cNvSpPr txBox="1"/>
          <p:nvPr/>
        </p:nvSpPr>
        <p:spPr>
          <a:xfrm>
            <a:off x="2936240" y="2186082"/>
            <a:ext cx="23774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32D34"/>
                </a:solidFill>
                <a:latin typeface="Aptos"/>
              </a:defRPr>
            </a:pPr>
            <a:r>
              <a:rPr lang="en-US" sz="1600" b="1" dirty="0" smtClean="0"/>
              <a:t>No.</a:t>
            </a:r>
            <a:r>
              <a:rPr sz="1600" b="1" dirty="0" smtClean="0"/>
              <a:t> </a:t>
            </a:r>
            <a:r>
              <a:rPr sz="1600" b="1" dirty="0"/>
              <a:t>= 259</a:t>
            </a:r>
            <a:br>
              <a:rPr sz="1600" b="1" dirty="0"/>
            </a:br>
            <a:r>
              <a:rPr sz="1600" b="1" dirty="0"/>
              <a:t>400 mg SC </a:t>
            </a:r>
            <a:r>
              <a:rPr lang="en-US" sz="1600" b="1" dirty="0"/>
              <a:t>q</a:t>
            </a:r>
            <a:r>
              <a:rPr sz="1600" b="1" dirty="0" smtClean="0"/>
              <a:t>4 </a:t>
            </a:r>
            <a:r>
              <a:rPr sz="1600" b="1" dirty="0"/>
              <a:t>weeks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51759" y="3383280"/>
            <a:ext cx="2922775" cy="1371600"/>
          </a:xfrm>
          <a:prstGeom prst="roundRect">
            <a:avLst/>
          </a:prstGeom>
          <a:solidFill>
            <a:srgbClr val="EFF5F7"/>
          </a:solidFill>
          <a:ln>
            <a:solidFill>
              <a:srgbClr val="DC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834640" y="3529584"/>
            <a:ext cx="23774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4274AA"/>
                </a:solidFill>
                <a:latin typeface="Aptos"/>
              </a:defRPr>
            </a:pPr>
            <a:r>
              <a:rPr sz="1600" dirty="0" smtClean="0"/>
              <a:t>P</a:t>
            </a:r>
            <a:r>
              <a:rPr lang="en-US" sz="1600" dirty="0" smtClean="0"/>
              <a:t>LACEBO q4 weeks</a:t>
            </a:r>
            <a:endParaRPr sz="1600" dirty="0"/>
          </a:p>
        </p:txBody>
      </p:sp>
      <p:sp>
        <p:nvSpPr>
          <p:cNvPr id="15" name="TextBox 14"/>
          <p:cNvSpPr txBox="1"/>
          <p:nvPr/>
        </p:nvSpPr>
        <p:spPr>
          <a:xfrm>
            <a:off x="2834640" y="3886200"/>
            <a:ext cx="23774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32D34"/>
                </a:solidFill>
                <a:latin typeface="Aptos"/>
              </a:defRPr>
            </a:pPr>
            <a:r>
              <a:rPr lang="en-US" sz="1600" b="1" dirty="0" smtClean="0"/>
              <a:t>No.</a:t>
            </a:r>
            <a:r>
              <a:rPr sz="1600" b="1" dirty="0" smtClean="0"/>
              <a:t> </a:t>
            </a:r>
            <a:r>
              <a:rPr sz="1600" b="1" dirty="0"/>
              <a:t>= 251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92328" y="1600200"/>
            <a:ext cx="2640192" cy="1371600"/>
          </a:xfrm>
          <a:prstGeom prst="roundRect">
            <a:avLst/>
          </a:prstGeom>
          <a:solidFill>
            <a:srgbClr val="EFF5F7"/>
          </a:solidFill>
          <a:ln>
            <a:solidFill>
              <a:srgbClr val="DC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629400" y="1746504"/>
            <a:ext cx="19202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A8084"/>
                </a:solidFill>
                <a:latin typeface="Aptos"/>
              </a:defRPr>
            </a:pPr>
            <a:r>
              <a:rPr sz="1600" dirty="0" smtClean="0"/>
              <a:t>B</a:t>
            </a:r>
            <a:r>
              <a:rPr lang="en-US" sz="1600" dirty="0" smtClean="0"/>
              <a:t>LINDING</a:t>
            </a:r>
            <a:endParaRPr sz="1600" dirty="0"/>
          </a:p>
        </p:txBody>
      </p:sp>
      <p:sp>
        <p:nvSpPr>
          <p:cNvPr id="19" name="TextBox 18"/>
          <p:cNvSpPr txBox="1"/>
          <p:nvPr/>
        </p:nvSpPr>
        <p:spPr>
          <a:xfrm>
            <a:off x="6629400" y="2103120"/>
            <a:ext cx="19202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32D34"/>
                </a:solidFill>
                <a:latin typeface="Aptos"/>
              </a:defRPr>
            </a:pPr>
            <a:r>
              <a:rPr sz="1600" b="1" dirty="0" smtClean="0"/>
              <a:t>Double-</a:t>
            </a:r>
            <a:r>
              <a:rPr lang="en-US" sz="1600" b="1" dirty="0" smtClean="0"/>
              <a:t>B</a:t>
            </a:r>
            <a:r>
              <a:rPr sz="1600" b="1" dirty="0" smtClean="0"/>
              <a:t>lind</a:t>
            </a:r>
            <a:endParaRPr sz="1600" b="1" dirty="0"/>
          </a:p>
        </p:txBody>
      </p:sp>
      <p:sp>
        <p:nvSpPr>
          <p:cNvPr id="20" name="Rounded Rectangle 19"/>
          <p:cNvSpPr/>
          <p:nvPr/>
        </p:nvSpPr>
        <p:spPr>
          <a:xfrm>
            <a:off x="6092328" y="3383280"/>
            <a:ext cx="2640192" cy="1371600"/>
          </a:xfrm>
          <a:prstGeom prst="roundRect">
            <a:avLst/>
          </a:prstGeom>
          <a:solidFill>
            <a:srgbClr val="EFF5F7"/>
          </a:solidFill>
          <a:ln>
            <a:solidFill>
              <a:srgbClr val="DC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629400" y="3529584"/>
            <a:ext cx="19202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4274AA"/>
                </a:solidFill>
                <a:latin typeface="Aptos"/>
              </a:defRPr>
            </a:pPr>
            <a:r>
              <a:rPr lang="en-US" sz="1600" dirty="0" smtClean="0"/>
              <a:t>CONTROL</a:t>
            </a:r>
            <a:endParaRPr sz="1600" dirty="0"/>
          </a:p>
        </p:txBody>
      </p:sp>
      <p:sp>
        <p:nvSpPr>
          <p:cNvPr id="22" name="TextBox 21"/>
          <p:cNvSpPr txBox="1"/>
          <p:nvPr/>
        </p:nvSpPr>
        <p:spPr>
          <a:xfrm>
            <a:off x="6629400" y="3886200"/>
            <a:ext cx="21031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32D34"/>
                </a:solidFill>
                <a:latin typeface="Aptos"/>
              </a:defRPr>
            </a:pPr>
            <a:r>
              <a:rPr lang="en-US" sz="1600" b="1" dirty="0" smtClean="0"/>
              <a:t>Placebo-Controlled</a:t>
            </a:r>
            <a:endParaRPr sz="1600" b="1" dirty="0"/>
          </a:p>
        </p:txBody>
      </p:sp>
      <p:sp>
        <p:nvSpPr>
          <p:cNvPr id="23" name="Rounded Rectangle 22"/>
          <p:cNvSpPr/>
          <p:nvPr/>
        </p:nvSpPr>
        <p:spPr>
          <a:xfrm>
            <a:off x="8922255" y="2228850"/>
            <a:ext cx="2719223" cy="1530794"/>
          </a:xfrm>
          <a:prstGeom prst="roundRect">
            <a:avLst/>
          </a:prstGeom>
          <a:solidFill>
            <a:srgbClr val="EFF5F7"/>
          </a:solidFill>
          <a:ln>
            <a:solidFill>
              <a:srgbClr val="DC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326880" y="2295144"/>
            <a:ext cx="1828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438963"/>
                </a:solidFill>
                <a:latin typeface="Aptos"/>
              </a:defRPr>
            </a:pPr>
            <a:r>
              <a:rPr lang="en-US" sz="1600" dirty="0" smtClean="0"/>
              <a:t>DURATION</a:t>
            </a:r>
            <a:endParaRPr sz="1600" dirty="0"/>
          </a:p>
        </p:txBody>
      </p:sp>
      <p:sp>
        <p:nvSpPr>
          <p:cNvPr id="25" name="TextBox 24"/>
          <p:cNvSpPr txBox="1"/>
          <p:nvPr/>
        </p:nvSpPr>
        <p:spPr>
          <a:xfrm>
            <a:off x="9120023" y="2661790"/>
            <a:ext cx="2587954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32D34"/>
                </a:solidFill>
                <a:latin typeface="Aptos"/>
              </a:defRPr>
            </a:pPr>
            <a:r>
              <a:rPr sz="1600" b="1" dirty="0"/>
              <a:t>100 weeks</a:t>
            </a:r>
            <a:br>
              <a:rPr sz="1600" b="1" dirty="0"/>
            </a:br>
            <a:r>
              <a:rPr sz="1600" b="1" dirty="0"/>
              <a:t>Key </a:t>
            </a:r>
            <a:r>
              <a:rPr sz="1600" b="1" dirty="0" smtClean="0"/>
              <a:t>interim</a:t>
            </a:r>
            <a:r>
              <a:rPr lang="en-US" sz="1600" b="1" dirty="0"/>
              <a:t> </a:t>
            </a:r>
            <a:r>
              <a:rPr lang="en-US" sz="1600" b="1" dirty="0" smtClean="0"/>
              <a:t>endpoint :</a:t>
            </a:r>
            <a:r>
              <a:rPr sz="1600" b="1" dirty="0" smtClean="0"/>
              <a:t> </a:t>
            </a:r>
            <a:endParaRPr lang="en-US" sz="1600" b="1" dirty="0" smtClean="0"/>
          </a:p>
          <a:p>
            <a:pPr>
              <a:defRPr sz="1300" b="0">
                <a:solidFill>
                  <a:srgbClr val="232D34"/>
                </a:solidFill>
                <a:latin typeface="Aptos"/>
              </a:defRPr>
            </a:pPr>
            <a:r>
              <a:rPr lang="en-US" sz="1600" b="1" dirty="0" smtClean="0"/>
              <a:t>Change in 24hrs UPCR at </a:t>
            </a:r>
            <a:r>
              <a:rPr sz="1600" b="1" dirty="0" smtClean="0"/>
              <a:t>9 </a:t>
            </a:r>
            <a:r>
              <a:rPr sz="1600" b="1" dirty="0"/>
              <a:t>months</a:t>
            </a:r>
          </a:p>
        </p:txBody>
      </p:sp>
      <p:sp>
        <p:nvSpPr>
          <p:cNvPr id="33" name="Rectangle 4"/>
          <p:cNvSpPr>
            <a:spLocks noChangeArrowheads="1"/>
          </p:cNvSpPr>
          <p:nvPr/>
        </p:nvSpPr>
        <p:spPr bwMode="auto">
          <a:xfrm>
            <a:off x="384048" y="571113"/>
            <a:ext cx="8520602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pto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ptos"/>
              </a:rPr>
              <a:t>VISIONARY Phase 3 Randomized, Double-Blind, </a:t>
            </a:r>
            <a:r>
              <a:rPr lang="en-US" altLang="en-US" sz="2000" b="1" dirty="0" smtClean="0">
                <a:latin typeface="Aptos"/>
              </a:rPr>
              <a:t>Pl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ptos"/>
              </a:rPr>
              <a:t>acebo-Controlled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308472"/>
            <a:ext cx="12191695" cy="7166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62A3E"/>
                </a:solidFill>
                <a:latin typeface="Aptos"/>
              </a:defRPr>
            </a:pPr>
            <a:r>
              <a:rPr sz="2800" dirty="0"/>
              <a:t>Primary outcome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68680"/>
            <a:ext cx="107899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9747C"/>
                </a:solidFill>
                <a:latin typeface="Aptos"/>
              </a:defRPr>
            </a:pPr>
            <a:r>
              <a:rPr lang="en-US" sz="1600" b="1" dirty="0" smtClean="0"/>
              <a:t>Change in </a:t>
            </a:r>
            <a:r>
              <a:rPr sz="1600" b="1" dirty="0" smtClean="0"/>
              <a:t>24-hour </a:t>
            </a:r>
            <a:r>
              <a:rPr sz="1600" b="1" dirty="0"/>
              <a:t>urine protein-to-creatinine ratio (UPCR) at 9 months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648" y="1207008"/>
            <a:ext cx="914400" cy="54864"/>
          </a:xfrm>
          <a:prstGeom prst="rect">
            <a:avLst/>
          </a:prstGeom>
          <a:solidFill>
            <a:srgbClr val="2A8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Char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2351685"/>
              </p:ext>
            </p:extLst>
          </p:nvPr>
        </p:nvGraphicFramePr>
        <p:xfrm>
          <a:off x="914400" y="1554480"/>
          <a:ext cx="658368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2057400" y="19659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2A8084"/>
                </a:solidFill>
                <a:latin typeface="Aptos"/>
              </a:defRPr>
            </a:pPr>
            <a:r>
              <a:t>−50.2%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00600" y="38404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4274AA"/>
                </a:solidFill>
                <a:latin typeface="Aptos"/>
              </a:defRPr>
            </a:pPr>
            <a:r>
              <a:t>+2.1%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09560" y="1737360"/>
            <a:ext cx="3474720" cy="2286000"/>
          </a:xfrm>
          <a:prstGeom prst="roundRect">
            <a:avLst/>
          </a:prstGeom>
          <a:solidFill>
            <a:srgbClr val="EFF5F7"/>
          </a:solidFill>
          <a:ln>
            <a:solidFill>
              <a:srgbClr val="DC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92440" y="1883664"/>
            <a:ext cx="31089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A8084"/>
                </a:solidFill>
                <a:latin typeface="Aptos"/>
              </a:defRPr>
            </a:pPr>
            <a:r>
              <a:rPr sz="1600" dirty="0"/>
              <a:t>Between-group difference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2440" y="2240280"/>
            <a:ext cx="310896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32D34"/>
                </a:solidFill>
                <a:latin typeface="Aptos"/>
              </a:defRPr>
            </a:pPr>
            <a:r>
              <a:rPr sz="1600" b="1" dirty="0"/>
              <a:t>51.2% lower UPCR with </a:t>
            </a:r>
            <a:r>
              <a:rPr sz="1600" b="1" dirty="0" err="1"/>
              <a:t>sibeprenlimab</a:t>
            </a:r>
            <a:r>
              <a:rPr sz="1600" b="1" dirty="0"/>
              <a:t/>
            </a:r>
            <a:br>
              <a:rPr sz="1600" b="1" dirty="0"/>
            </a:br>
            <a:r>
              <a:rPr sz="1600" b="1" dirty="0"/>
              <a:t>96.5% CI: 42.9–58.2</a:t>
            </a:r>
            <a:br>
              <a:rPr sz="1600" b="1" dirty="0"/>
            </a:br>
            <a:r>
              <a:rPr sz="1600" b="1" dirty="0"/>
              <a:t>P &lt; 0.001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0" y="4389120"/>
            <a:ext cx="32004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62A3E"/>
                </a:solidFill>
                <a:latin typeface="Aptos"/>
              </a:defRPr>
            </a:pPr>
            <a:r>
              <a:rPr dirty="0"/>
              <a:t>Key message: substantial proteinuria </a:t>
            </a:r>
            <a:r>
              <a:rPr dirty="0" smtClean="0"/>
              <a:t>reduction</a:t>
            </a:r>
            <a:r>
              <a:rPr lang="en-US" dirty="0" smtClean="0"/>
              <a:t> with </a:t>
            </a:r>
            <a:r>
              <a:rPr lang="en-US" dirty="0" err="1" smtClean="0"/>
              <a:t>Sibeprenlimab</a:t>
            </a:r>
            <a:r>
              <a:rPr lang="en-US" dirty="0" smtClean="0"/>
              <a:t> </a:t>
            </a:r>
            <a:r>
              <a:rPr lang="en-US" dirty="0" err="1" smtClean="0"/>
              <a:t>i.e</a:t>
            </a:r>
            <a:r>
              <a:rPr lang="en-US" dirty="0" smtClean="0"/>
              <a:t> 50.2%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62A3E"/>
                </a:solidFill>
                <a:latin typeface="Aptos"/>
              </a:defRPr>
            </a:pPr>
            <a:r>
              <a:rPr dirty="0"/>
              <a:t>Biological </a:t>
            </a:r>
            <a:r>
              <a:rPr lang="en-US" dirty="0" smtClean="0"/>
              <a:t>T</a:t>
            </a:r>
            <a:r>
              <a:rPr dirty="0" smtClean="0"/>
              <a:t>arget </a:t>
            </a:r>
            <a:r>
              <a:rPr lang="en-US" dirty="0" smtClean="0"/>
              <a:t>E</a:t>
            </a:r>
            <a:r>
              <a:rPr dirty="0" smtClean="0"/>
              <a:t>ngagement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612648" y="868680"/>
            <a:ext cx="107899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9747C"/>
                </a:solidFill>
                <a:latin typeface="Aptos"/>
              </a:defRPr>
            </a:pPr>
            <a:r>
              <a:rPr sz="1600" b="1" dirty="0"/>
              <a:t>The mechanism translated into measurable biomarker effects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648" y="1207008"/>
            <a:ext cx="914400" cy="54864"/>
          </a:xfrm>
          <a:prstGeom prst="rect">
            <a:avLst/>
          </a:prstGeom>
          <a:solidFill>
            <a:srgbClr val="2A8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22960" y="1613916"/>
            <a:ext cx="3200400" cy="2926080"/>
          </a:xfrm>
          <a:prstGeom prst="roundRect">
            <a:avLst/>
          </a:prstGeom>
          <a:solidFill>
            <a:srgbClr val="EFF5F7"/>
          </a:solidFill>
          <a:ln>
            <a:solidFill>
              <a:srgbClr val="DC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1792224"/>
            <a:ext cx="28346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4274AA"/>
                </a:solidFill>
                <a:latin typeface="Aptos"/>
              </a:defRPr>
            </a:pPr>
            <a:r>
              <a:rPr sz="1600" dirty="0"/>
              <a:t>Serum APRIL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516832"/>
            <a:ext cx="28346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32D34"/>
                </a:solidFill>
                <a:latin typeface="Aptos"/>
              </a:defRPr>
            </a:pPr>
            <a:r>
              <a:rPr sz="1600" b="1" dirty="0" smtClean="0"/>
              <a:t>95.8%</a:t>
            </a:r>
            <a:r>
              <a:rPr lang="en-US" sz="1600" b="1" dirty="0" smtClean="0"/>
              <a:t> Reduction </a:t>
            </a:r>
            <a:r>
              <a:rPr sz="1600" b="1" dirty="0"/>
              <a:t/>
            </a:r>
            <a:br>
              <a:rPr sz="1600" b="1" dirty="0"/>
            </a:br>
            <a:r>
              <a:rPr sz="1600" b="1" dirty="0"/>
              <a:t>at Week 48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645920"/>
            <a:ext cx="3200400" cy="2926080"/>
          </a:xfrm>
          <a:prstGeom prst="roundRect">
            <a:avLst/>
          </a:prstGeom>
          <a:solidFill>
            <a:srgbClr val="EFF5F7"/>
          </a:solidFill>
          <a:ln>
            <a:solidFill>
              <a:srgbClr val="DC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63440" y="1792224"/>
            <a:ext cx="28346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A8084"/>
                </a:solidFill>
                <a:latin typeface="Aptos"/>
              </a:defRPr>
            </a:pPr>
            <a:r>
              <a:rPr sz="1600" dirty="0"/>
              <a:t>Gd-IgA1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0288" y="2546231"/>
            <a:ext cx="28346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32D34"/>
                </a:solidFill>
                <a:latin typeface="Aptos"/>
              </a:defRPr>
            </a:pPr>
            <a:r>
              <a:rPr sz="1600" b="1" dirty="0" smtClean="0"/>
              <a:t>67.1%</a:t>
            </a:r>
            <a:r>
              <a:rPr lang="en-US" sz="1600" b="1" dirty="0" smtClean="0"/>
              <a:t> Reduction</a:t>
            </a:r>
            <a:r>
              <a:rPr sz="1600" b="1" dirty="0"/>
              <a:t/>
            </a:r>
            <a:br>
              <a:rPr sz="1600" b="1" dirty="0"/>
            </a:br>
            <a:r>
              <a:rPr sz="1600" b="1" dirty="0"/>
              <a:t>at Week 48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645920"/>
            <a:ext cx="3200400" cy="2926080"/>
          </a:xfrm>
          <a:prstGeom prst="roundRect">
            <a:avLst/>
          </a:prstGeom>
          <a:solidFill>
            <a:srgbClr val="EFF5F7"/>
          </a:solidFill>
          <a:ln>
            <a:solidFill>
              <a:srgbClr val="DC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66303" y="1824341"/>
            <a:ext cx="28346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438963"/>
                </a:solidFill>
                <a:latin typeface="Aptos"/>
              </a:defRPr>
            </a:pPr>
            <a:r>
              <a:rPr lang="en-US" sz="1600" dirty="0" smtClean="0"/>
              <a:t>INTERPRETATION</a:t>
            </a:r>
            <a:endParaRPr sz="1600" dirty="0"/>
          </a:p>
        </p:txBody>
      </p:sp>
      <p:sp>
        <p:nvSpPr>
          <p:cNvPr id="14" name="TextBox 13"/>
          <p:cNvSpPr txBox="1"/>
          <p:nvPr/>
        </p:nvSpPr>
        <p:spPr>
          <a:xfrm>
            <a:off x="8321040" y="2536450"/>
            <a:ext cx="283464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32D34"/>
                </a:solidFill>
                <a:latin typeface="Aptos"/>
              </a:defRPr>
            </a:pPr>
            <a:r>
              <a:rPr lang="en-US" sz="1600" b="1" dirty="0" smtClean="0"/>
              <a:t>50.2% reduction in UPCR </a:t>
            </a:r>
            <a:r>
              <a:rPr sz="1600" b="1" dirty="0" smtClean="0"/>
              <a:t>Target </a:t>
            </a:r>
            <a:r>
              <a:rPr sz="1600" b="1" dirty="0"/>
              <a:t>engagement</a:t>
            </a:r>
            <a:br>
              <a:rPr sz="1600" b="1" dirty="0"/>
            </a:br>
            <a:r>
              <a:rPr sz="1600" b="1" dirty="0"/>
              <a:t>+</a:t>
            </a:r>
            <a:br>
              <a:rPr sz="1600" b="1" dirty="0"/>
            </a:br>
            <a:r>
              <a:rPr sz="1600" b="1" dirty="0"/>
              <a:t>biological response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512064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4274AA"/>
                </a:solidFill>
                <a:latin typeface="Aptos"/>
              </a:defRPr>
            </a:pPr>
            <a:r>
              <a:rPr dirty="0"/>
              <a:t>APRIL inhibition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44545" y="5041509"/>
            <a:ext cx="898855" cy="439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69747C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5069533"/>
            <a:ext cx="330738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A8084"/>
                </a:solidFill>
                <a:latin typeface="Aptos"/>
              </a:defRPr>
            </a:pPr>
            <a:r>
              <a:rPr dirty="0"/>
              <a:t>↓ pathogenic IgA biology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5074920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69747C"/>
                </a:solidFill>
                <a:latin typeface="Aptos"/>
              </a:defRPr>
            </a:pPr>
            <a:r>
              <a:rPr dirty="0"/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98461" y="5238811"/>
            <a:ext cx="21031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438963"/>
                </a:solidFill>
                <a:latin typeface="Aptos"/>
              </a:defRPr>
            </a:pPr>
            <a:r>
              <a:rPr lang="en-US" dirty="0" smtClean="0"/>
              <a:t>         </a:t>
            </a:r>
            <a:r>
              <a:rPr dirty="0" smtClean="0"/>
              <a:t>↓ </a:t>
            </a:r>
            <a:r>
              <a:rPr dirty="0"/>
              <a:t>proteinuria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62A3E"/>
                </a:solidFill>
                <a:latin typeface="Aptos"/>
              </a:defRPr>
            </a:pPr>
            <a:r>
              <a:rPr lang="en-US" dirty="0" smtClean="0"/>
              <a:t> </a:t>
            </a:r>
            <a:r>
              <a:rPr dirty="0" smtClean="0"/>
              <a:t>Safety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365760" y="859536"/>
            <a:ext cx="107899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9747C"/>
                </a:solidFill>
                <a:latin typeface="Aptos"/>
              </a:defRPr>
            </a:pPr>
            <a:r>
              <a:rPr lang="en-US" sz="1600" b="1" dirty="0" smtClean="0"/>
              <a:t>     INTERIM  ANALYSIS</a:t>
            </a:r>
            <a:r>
              <a:rPr sz="1600" b="1" dirty="0" smtClean="0"/>
              <a:t>:</a:t>
            </a:r>
            <a:r>
              <a:rPr lang="en-US" sz="1600" b="1" dirty="0"/>
              <a:t> </a:t>
            </a:r>
            <a:r>
              <a:rPr lang="en-US" sz="1600" b="1" dirty="0" smtClean="0"/>
              <a:t>NO</a:t>
            </a:r>
            <a:r>
              <a:rPr sz="1600" b="1" dirty="0" smtClean="0"/>
              <a:t> major</a:t>
            </a:r>
            <a:r>
              <a:rPr lang="en-US" sz="1600" b="1" dirty="0" smtClean="0"/>
              <a:t> Difference</a:t>
            </a:r>
            <a:r>
              <a:rPr sz="1600" b="1" dirty="0" smtClean="0"/>
              <a:t> </a:t>
            </a:r>
            <a:r>
              <a:rPr sz="1600" b="1" dirty="0"/>
              <a:t>in serious adverse events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648" y="1207008"/>
            <a:ext cx="914400" cy="54864"/>
          </a:xfrm>
          <a:prstGeom prst="rect">
            <a:avLst/>
          </a:prstGeom>
          <a:solidFill>
            <a:srgbClr val="2A8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22960" y="1554480"/>
            <a:ext cx="3200400" cy="2560320"/>
          </a:xfrm>
          <a:prstGeom prst="roundRect">
            <a:avLst/>
          </a:prstGeom>
          <a:solidFill>
            <a:srgbClr val="EFF5F7"/>
          </a:solidFill>
          <a:ln>
            <a:solidFill>
              <a:srgbClr val="DC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1700784"/>
            <a:ext cx="283464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A8084"/>
                </a:solidFill>
                <a:latin typeface="Aptos"/>
              </a:defRPr>
            </a:pPr>
            <a:r>
              <a:rPr lang="en-US" dirty="0" smtClean="0"/>
              <a:t>SIBEPRENLIMAB</a:t>
            </a: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1005840" y="2057400"/>
            <a:ext cx="28346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32D34"/>
                </a:solidFill>
                <a:latin typeface="Aptos"/>
              </a:defRPr>
            </a:pPr>
            <a:r>
              <a:rPr sz="1600" b="1" dirty="0"/>
              <a:t>Serious adverse events</a:t>
            </a:r>
            <a:br>
              <a:rPr sz="1600" b="1" dirty="0"/>
            </a:br>
            <a:r>
              <a:rPr sz="1600" b="1" dirty="0"/>
              <a:t>3.5%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554480"/>
            <a:ext cx="3200400" cy="2560320"/>
          </a:xfrm>
          <a:prstGeom prst="roundRect">
            <a:avLst/>
          </a:prstGeom>
          <a:solidFill>
            <a:srgbClr val="EFF5F7"/>
          </a:solidFill>
          <a:ln>
            <a:solidFill>
              <a:srgbClr val="DC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63440" y="1700784"/>
            <a:ext cx="283464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4274AA"/>
                </a:solidFill>
                <a:latin typeface="Aptos"/>
              </a:defRPr>
            </a:pPr>
            <a:r>
              <a:rPr lang="en-US" dirty="0" smtClean="0"/>
              <a:t>PLACEBO</a:t>
            </a:r>
            <a:endParaRPr dirty="0"/>
          </a:p>
        </p:txBody>
      </p:sp>
      <p:sp>
        <p:nvSpPr>
          <p:cNvPr id="11" name="TextBox 10"/>
          <p:cNvSpPr txBox="1"/>
          <p:nvPr/>
        </p:nvSpPr>
        <p:spPr>
          <a:xfrm>
            <a:off x="4663440" y="2057400"/>
            <a:ext cx="28346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32D34"/>
                </a:solidFill>
                <a:latin typeface="Aptos"/>
              </a:defRPr>
            </a:pPr>
            <a:r>
              <a:rPr sz="1600" b="1" dirty="0"/>
              <a:t>Serious adverse events</a:t>
            </a:r>
            <a:br>
              <a:rPr sz="1600" b="1" dirty="0"/>
            </a:br>
            <a:r>
              <a:rPr sz="1600" b="1" dirty="0"/>
              <a:t>4.4%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554480"/>
            <a:ext cx="3200400" cy="2560320"/>
          </a:xfrm>
          <a:prstGeom prst="roundRect">
            <a:avLst/>
          </a:prstGeom>
          <a:solidFill>
            <a:srgbClr val="EFF5F7"/>
          </a:solidFill>
          <a:ln>
            <a:solidFill>
              <a:srgbClr val="DC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21040" y="1700784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438963"/>
                </a:solidFill>
                <a:latin typeface="Aptos"/>
              </a:defRPr>
            </a:pPr>
            <a:r>
              <a:t>Deaths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2057400"/>
            <a:ext cx="2834640" cy="1920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32D34"/>
                </a:solidFill>
                <a:latin typeface="Aptos"/>
              </a:defRPr>
            </a:pPr>
            <a:r>
              <a:t>No deaths reported</a:t>
            </a:r>
            <a:br/>
            <a:r>
              <a:t>in the interim analysis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4892040"/>
            <a:ext cx="9875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1">
                <a:solidFill>
                  <a:srgbClr val="162A3E"/>
                </a:solidFill>
                <a:latin typeface="Aptos"/>
              </a:defRPr>
            </a:pPr>
            <a:r>
              <a:t>Long-term monitoring remains important because APRIL is part of immune biology.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9747C"/>
                </a:solidFill>
                <a:latin typeface="Aptos"/>
              </a:defRPr>
            </a:pPr>
            <a:r>
              <a:t>Journal Club • VISIONARY Trial  |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62A3E"/>
                </a:solidFill>
                <a:latin typeface="Aptos"/>
              </a:defRPr>
            </a:pPr>
            <a:r>
              <a:t>Critical appraisal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6868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9747C"/>
                </a:solidFill>
                <a:latin typeface="Aptos"/>
              </a:defRPr>
            </a:pPr>
            <a:r>
              <a:t>What is strong — and what still needs proof?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648" y="1207008"/>
            <a:ext cx="914400" cy="54864"/>
          </a:xfrm>
          <a:prstGeom prst="rect">
            <a:avLst/>
          </a:prstGeom>
          <a:solidFill>
            <a:srgbClr val="2A8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5212080" cy="4251960"/>
          </a:xfrm>
          <a:prstGeom prst="roundRect">
            <a:avLst/>
          </a:prstGeom>
          <a:solidFill>
            <a:srgbClr val="EFF5F7"/>
          </a:solidFill>
          <a:ln>
            <a:solidFill>
              <a:srgbClr val="DC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563624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A8084"/>
                </a:solidFill>
                <a:latin typeface="Aptos"/>
              </a:defRPr>
            </a:pPr>
            <a:r>
              <a:t>STRENGTHS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484632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32D34"/>
                </a:solidFill>
                <a:latin typeface="Aptos"/>
              </a:defRPr>
            </a:pPr>
            <a:r>
              <a:t>• Phase 3 randomized trial</a:t>
            </a:r>
            <a:br/>
            <a:r>
              <a:t>• Double-blind + placebo-controlled</a:t>
            </a:r>
            <a:br/>
            <a:r>
              <a:t>• 510 randomized patients</a:t>
            </a:r>
            <a:br/>
            <a:r>
              <a:t>• International multicenter design</a:t>
            </a:r>
            <a:br/>
            <a:r>
              <a:t>• Strong biological rationale</a:t>
            </a:r>
            <a:br/>
            <a:r>
              <a:t>• Large proteinuria effect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17320"/>
            <a:ext cx="5212080" cy="4251960"/>
          </a:xfrm>
          <a:prstGeom prst="roundRect">
            <a:avLst/>
          </a:prstGeom>
          <a:solidFill>
            <a:srgbClr val="EFF5F7"/>
          </a:solidFill>
          <a:ln>
            <a:solidFill>
              <a:srgbClr val="DC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46520" y="1563624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BE5050"/>
                </a:solidFill>
                <a:latin typeface="Aptos"/>
              </a:defRPr>
            </a:pPr>
            <a:r>
              <a:t>LIMITATIONS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920240"/>
            <a:ext cx="484632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32D34"/>
                </a:solidFill>
                <a:latin typeface="Aptos"/>
              </a:defRPr>
            </a:pPr>
            <a:r>
              <a:t>• Interim analysis</a:t>
            </a:r>
            <a:br/>
            <a:r>
              <a:t>• Proteinuria is a surrogate endpoint</a:t>
            </a:r>
            <a:br/>
            <a:r>
              <a:t>• Long-term kidney failure outcomes need follow-up</a:t>
            </a:r>
            <a:br/>
            <a:r>
              <a:t>• Long-term safety remains important</a:t>
            </a:r>
            <a:br/>
            <a:r>
              <a:t>• Industry funding / access and cost considerations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9747C"/>
                </a:solidFill>
                <a:latin typeface="Aptos"/>
              </a:defRPr>
            </a:pPr>
            <a:r>
              <a:t>Journal Club • VISIONARY Trial  |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62A3E"/>
                </a:solidFill>
                <a:latin typeface="Aptos"/>
              </a:defRPr>
            </a:pPr>
            <a:r>
              <a:t>The key Journal Club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6868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9747C"/>
                </a:solidFill>
                <a:latin typeface="Aptos"/>
              </a:defRPr>
            </a:pPr>
            <a:r>
              <a:t>Proteinuria reduction ≠ automatically proven prevention of kidney failure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648" y="1207008"/>
            <a:ext cx="914400" cy="54864"/>
          </a:xfrm>
          <a:prstGeom prst="rect">
            <a:avLst/>
          </a:prstGeom>
          <a:solidFill>
            <a:srgbClr val="2A8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14400" y="2011680"/>
            <a:ext cx="1234440" cy="1234440"/>
          </a:xfrm>
          <a:prstGeom prst="ellipse">
            <a:avLst/>
          </a:prstGeom>
          <a:solidFill>
            <a:srgbClr val="2A8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344978"/>
            <a:ext cx="1234440" cy="55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t>↓</a:t>
            </a:r>
            <a:br/>
            <a:r>
              <a:t>UPCR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31720" y="24231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69747C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9" name="Oval 8"/>
          <p:cNvSpPr/>
          <p:nvPr/>
        </p:nvSpPr>
        <p:spPr>
          <a:xfrm>
            <a:off x="2926080" y="1965960"/>
            <a:ext cx="1417320" cy="1417320"/>
          </a:xfrm>
          <a:prstGeom prst="ellipse">
            <a:avLst/>
          </a:prstGeom>
          <a:solidFill>
            <a:srgbClr val="427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926080" y="2348636"/>
            <a:ext cx="1417320" cy="637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t>eGFR</a:t>
            </a:r>
            <a:br/>
            <a:r>
              <a:t>slope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4231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69747C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2" name="Oval 11"/>
          <p:cNvSpPr/>
          <p:nvPr/>
        </p:nvSpPr>
        <p:spPr>
          <a:xfrm>
            <a:off x="5166360" y="2011680"/>
            <a:ext cx="1234440" cy="1234440"/>
          </a:xfrm>
          <a:prstGeom prst="ellipse">
            <a:avLst/>
          </a:prstGeom>
          <a:solidFill>
            <a:srgbClr val="4389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166360" y="2344978"/>
            <a:ext cx="1234440" cy="55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↓ CKD</a:t>
            </a:r>
            <a:br/>
            <a:r>
              <a:t>progression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24231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69747C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0" y="2011680"/>
            <a:ext cx="1417320" cy="1417320"/>
          </a:xfrm>
          <a:prstGeom prst="ellipse">
            <a:avLst/>
          </a:prstGeom>
          <a:solidFill>
            <a:srgbClr val="BE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15200" y="2394356"/>
            <a:ext cx="1417320" cy="637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Kidney</a:t>
            </a:r>
            <a:br/>
            <a:r>
              <a:t>failure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0" y="4251960"/>
            <a:ext cx="7132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62A3E"/>
                </a:solidFill>
                <a:latin typeface="Aptos"/>
              </a:defRPr>
            </a:pPr>
            <a:r>
              <a:t>The clinical endpoint we ultimately care about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9747C"/>
                </a:solidFill>
                <a:latin typeface="Aptos"/>
              </a:defRPr>
            </a:pPr>
            <a:r>
              <a:t>Journal Club • VISIONARY Trial  |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BEE1E2"/>
                </a:solidFill>
                <a:latin typeface="Aptos"/>
              </a:defRPr>
            </a:pPr>
            <a:r>
              <a:t>2026 UPDATE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9875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Aptos"/>
              </a:defRPr>
            </a:pPr>
            <a:r>
              <a:t>24-month kidney-function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6596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DCE6EB"/>
                </a:solidFill>
                <a:latin typeface="Aptos"/>
              </a:defRPr>
            </a:pPr>
            <a:r>
              <a:t>New Phase 3 VISIONARY results reported in August 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43200"/>
            <a:ext cx="3383280" cy="2011680"/>
          </a:xfrm>
          <a:prstGeom prst="roundRect">
            <a:avLst/>
          </a:prstGeom>
          <a:solidFill>
            <a:srgbClr val="EFF5F7"/>
          </a:solidFill>
          <a:ln>
            <a:solidFill>
              <a:srgbClr val="DC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889504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A8084"/>
                </a:solidFill>
                <a:latin typeface="Aptos"/>
              </a:defRPr>
            </a:pPr>
            <a:r>
              <a:t>What changed?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4612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32D34"/>
                </a:solidFill>
                <a:latin typeface="Aptos"/>
              </a:defRPr>
            </a:pPr>
            <a:r>
              <a:t>The story moved beyond proteinuria toward preservation of kidney function.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2743200"/>
            <a:ext cx="3383280" cy="2011680"/>
          </a:xfrm>
          <a:prstGeom prst="roundRect">
            <a:avLst/>
          </a:prstGeom>
          <a:solidFill>
            <a:srgbClr val="EFF5F7"/>
          </a:solidFill>
          <a:ln>
            <a:solidFill>
              <a:srgbClr val="DC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17720" y="2889504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4274AA"/>
                </a:solidFill>
                <a:latin typeface="Aptos"/>
              </a:defRPr>
            </a:pPr>
            <a:r>
              <a:t>Main signal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324612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32D34"/>
                </a:solidFill>
                <a:latin typeface="Aptos"/>
              </a:defRPr>
            </a:pPr>
            <a:r>
              <a:t>Sibeprenlimab significantly stabilized kidney function by 24 months.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2743200"/>
            <a:ext cx="3383280" cy="2011680"/>
          </a:xfrm>
          <a:prstGeom prst="roundRect">
            <a:avLst/>
          </a:prstGeom>
          <a:solidFill>
            <a:srgbClr val="EFF5F7"/>
          </a:solidFill>
          <a:ln>
            <a:solidFill>
              <a:srgbClr val="DC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21040" y="2889504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438963"/>
                </a:solidFill>
                <a:latin typeface="Aptos"/>
              </a:defRPr>
            </a:pPr>
            <a:r>
              <a:t>Interpretation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324612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32D34"/>
                </a:solidFill>
                <a:latin typeface="Aptos"/>
              </a:defRPr>
            </a:pPr>
            <a:r>
              <a:t>Promising evidence of disease modification — while longer-term outcomes remain important.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5623560"/>
            <a:ext cx="9966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Distinguish the peer-reviewed interim NEJM analysis from the newer 24-month update.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9747C"/>
                </a:solidFill>
                <a:latin typeface="Aptos"/>
              </a:defRPr>
            </a:pPr>
            <a:r>
              <a:t>Journal Club • VISIONARY Trial  |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62A3E"/>
                </a:solidFill>
                <a:latin typeface="Aptos"/>
              </a:defRPr>
            </a:pPr>
            <a:r>
              <a:t>Clinical relevance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6868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9747C"/>
                </a:solidFill>
                <a:latin typeface="Aptos"/>
              </a:defRPr>
            </a:pPr>
            <a:r>
              <a:t>Where could sibeprenlimab fit?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648" y="1207008"/>
            <a:ext cx="914400" cy="54864"/>
          </a:xfrm>
          <a:prstGeom prst="rect">
            <a:avLst/>
          </a:prstGeom>
          <a:solidFill>
            <a:srgbClr val="2A8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22960" y="4389120"/>
            <a:ext cx="3154680" cy="1508760"/>
          </a:xfrm>
          <a:prstGeom prst="roundRect">
            <a:avLst/>
          </a:prstGeom>
          <a:solidFill>
            <a:srgbClr val="EFF5F7"/>
          </a:solidFill>
          <a:ln>
            <a:solidFill>
              <a:srgbClr val="DC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4535424"/>
            <a:ext cx="2788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4274AA"/>
                </a:solidFill>
                <a:latin typeface="Aptos"/>
              </a:defRPr>
            </a:pPr>
            <a:r>
              <a:t>Supportive care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4892040"/>
            <a:ext cx="2788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32D34"/>
                </a:solidFill>
                <a:latin typeface="Aptos"/>
              </a:defRPr>
            </a:pPr>
            <a:r>
              <a:t>RAAS blockade / BP control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3337560"/>
            <a:ext cx="3154680" cy="1508760"/>
          </a:xfrm>
          <a:prstGeom prst="roundRect">
            <a:avLst/>
          </a:prstGeom>
          <a:solidFill>
            <a:srgbClr val="EFF5F7"/>
          </a:solidFill>
          <a:ln>
            <a:solidFill>
              <a:srgbClr val="DC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09160" y="3483864"/>
            <a:ext cx="2788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A8084"/>
                </a:solidFill>
                <a:latin typeface="Aptos"/>
              </a:defRPr>
            </a:pPr>
            <a:r>
              <a:t>Kidney-protective therapy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3840480"/>
            <a:ext cx="2788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32D34"/>
                </a:solidFill>
                <a:latin typeface="Aptos"/>
              </a:defRPr>
            </a:pPr>
            <a:r>
              <a:t>SGLT2 inhibition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2286000"/>
            <a:ext cx="3154680" cy="1508760"/>
          </a:xfrm>
          <a:prstGeom prst="roundRect">
            <a:avLst/>
          </a:prstGeom>
          <a:solidFill>
            <a:srgbClr val="EFF5F7"/>
          </a:solidFill>
          <a:ln>
            <a:solidFill>
              <a:srgbClr val="DC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412480" y="2432304"/>
            <a:ext cx="2788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438963"/>
                </a:solidFill>
                <a:latin typeface="Aptos"/>
              </a:defRPr>
            </a:pPr>
            <a:r>
              <a:t>Disease-directed therapy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2788920"/>
            <a:ext cx="2788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32D34"/>
                </a:solidFill>
                <a:latin typeface="Aptos"/>
              </a:defRPr>
            </a:pPr>
            <a:r>
              <a:t>Target IgAN biology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1554480"/>
            <a:ext cx="9875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62A3E"/>
                </a:solidFill>
                <a:latin typeface="Aptos"/>
              </a:defRPr>
            </a:pPr>
            <a:r>
              <a:t>Potential future role: mechanism-specific therapy for patients at meaningful risk of progression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9747C"/>
                </a:solidFill>
                <a:latin typeface="Aptos"/>
              </a:defRPr>
            </a:pPr>
            <a:r>
              <a:t>Journal Club • VISIONARY Trial  |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62A3E"/>
                </a:solidFill>
                <a:latin typeface="Aptos"/>
              </a:defRPr>
            </a:pPr>
            <a:r>
              <a:t>Questions for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6868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9747C"/>
                </a:solidFill>
                <a:latin typeface="Aptos"/>
              </a:defRPr>
            </a:pPr>
            <a:r>
              <a:t>Use these to lead the Journal Club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648" y="1207008"/>
            <a:ext cx="914400" cy="54864"/>
          </a:xfrm>
          <a:prstGeom prst="rect">
            <a:avLst/>
          </a:prstGeom>
          <a:solidFill>
            <a:srgbClr val="2A8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5120640" cy="1143000"/>
          </a:xfrm>
          <a:prstGeom prst="roundRect">
            <a:avLst/>
          </a:prstGeom>
          <a:solidFill>
            <a:srgbClr val="EFF5F7"/>
          </a:solidFill>
          <a:ln>
            <a:solidFill>
              <a:srgbClr val="DC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563624"/>
            <a:ext cx="47548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A8084"/>
                </a:solidFill>
                <a:latin typeface="Aptos"/>
              </a:defRPr>
            </a:pPr>
            <a:r>
              <a:t>1. Is proteinuria an adequate primary endpoint?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47548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32D34"/>
                </a:solidFill>
                <a:latin typeface="Aptos"/>
              </a:defRPr>
            </a:pPr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31520" y="2834640"/>
            <a:ext cx="5120640" cy="1143000"/>
          </a:xfrm>
          <a:prstGeom prst="roundRect">
            <a:avLst/>
          </a:prstGeom>
          <a:solidFill>
            <a:srgbClr val="EFF5F7"/>
          </a:solidFill>
          <a:ln>
            <a:solidFill>
              <a:srgbClr val="DC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2980944"/>
            <a:ext cx="47548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A8084"/>
                </a:solidFill>
                <a:latin typeface="Aptos"/>
              </a:defRPr>
            </a:pPr>
            <a:r>
              <a:t>2. How clinically meaningful is a ~50% UPCR reduction?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337560"/>
            <a:ext cx="47548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32D34"/>
                </a:solidFill>
                <a:latin typeface="Aptos"/>
              </a:defRPr>
            </a:pPr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31520" y="4251960"/>
            <a:ext cx="5120640" cy="1143000"/>
          </a:xfrm>
          <a:prstGeom prst="roundRect">
            <a:avLst/>
          </a:prstGeom>
          <a:solidFill>
            <a:srgbClr val="EFF5F7"/>
          </a:solidFill>
          <a:ln>
            <a:solidFill>
              <a:srgbClr val="DC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4398264"/>
            <a:ext cx="47548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A8084"/>
                </a:solidFill>
                <a:latin typeface="Aptos"/>
              </a:defRPr>
            </a:pPr>
            <a:r>
              <a:t>3. Is 24 months enough to establish kidney benefit?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754880"/>
            <a:ext cx="47548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32D34"/>
                </a:solidFill>
                <a:latin typeface="Aptos"/>
              </a:defRPr>
            </a:pPr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309359" y="1417320"/>
            <a:ext cx="5120640" cy="1143000"/>
          </a:xfrm>
          <a:prstGeom prst="roundRect">
            <a:avLst/>
          </a:prstGeom>
          <a:solidFill>
            <a:srgbClr val="EFF5F7"/>
          </a:solidFill>
          <a:ln>
            <a:solidFill>
              <a:srgbClr val="DC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92240" y="1563624"/>
            <a:ext cx="47548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4274AA"/>
                </a:solidFill>
                <a:latin typeface="Aptos"/>
              </a:defRPr>
            </a:pPr>
            <a:r>
              <a:t>4. Who should receive APRIL inhibition?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1920240"/>
            <a:ext cx="47548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32D34"/>
                </a:solidFill>
                <a:latin typeface="Aptos"/>
              </a:defRPr>
            </a:pPr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309359" y="2834640"/>
            <a:ext cx="5120640" cy="1143000"/>
          </a:xfrm>
          <a:prstGeom prst="roundRect">
            <a:avLst/>
          </a:prstGeom>
          <a:solidFill>
            <a:srgbClr val="EFF5F7"/>
          </a:solidFill>
          <a:ln>
            <a:solidFill>
              <a:srgbClr val="DC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92240" y="2980944"/>
            <a:ext cx="47548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4274AA"/>
                </a:solidFill>
                <a:latin typeface="Aptos"/>
              </a:defRPr>
            </a:pPr>
            <a:r>
              <a:t>5. Should it be combined with SGLT2 inhibitors or RAAS blockade?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337560"/>
            <a:ext cx="47548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32D34"/>
                </a:solidFill>
                <a:latin typeface="Aptos"/>
              </a:defRPr>
            </a:pPr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309359" y="4251960"/>
            <a:ext cx="5120640" cy="1143000"/>
          </a:xfrm>
          <a:prstGeom prst="roundRect">
            <a:avLst/>
          </a:prstGeom>
          <a:solidFill>
            <a:srgbClr val="EFF5F7"/>
          </a:solidFill>
          <a:ln>
            <a:solidFill>
              <a:srgbClr val="DC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92240" y="4398264"/>
            <a:ext cx="47548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4274AA"/>
                </a:solidFill>
                <a:latin typeface="Aptos"/>
              </a:defRPr>
            </a:pPr>
            <a:r>
              <a:t>6. What are the implications of cost and long-term safety?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4754880"/>
            <a:ext cx="47548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32D34"/>
                </a:solidFill>
                <a:latin typeface="Aptos"/>
              </a:defRPr>
            </a:pPr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12648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9747C"/>
                </a:solidFill>
                <a:latin typeface="Aptos"/>
              </a:defRPr>
            </a:pPr>
            <a:r>
              <a:t>Journal Club • VISIONARY Trial  | 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62A3E"/>
                </a:solidFill>
                <a:latin typeface="Aptos"/>
              </a:defRPr>
            </a:pPr>
            <a:r>
              <a:t>Take-home messages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207008"/>
            <a:ext cx="914400" cy="54864"/>
          </a:xfrm>
          <a:prstGeom prst="rect">
            <a:avLst/>
          </a:prstGeom>
          <a:solidFill>
            <a:srgbClr val="2A8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22960" y="1417320"/>
            <a:ext cx="502920" cy="502920"/>
          </a:xfrm>
          <a:prstGeom prst="ellipse">
            <a:avLst/>
          </a:prstGeom>
          <a:solidFill>
            <a:srgbClr val="2A8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553108"/>
            <a:ext cx="502920" cy="226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46304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32D34"/>
                </a:solidFill>
                <a:latin typeface="Aptos"/>
              </a:defRPr>
            </a:pPr>
            <a:r>
              <a:t>Sibeprenlimab selectively inhibits APRIL.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2350008"/>
            <a:ext cx="502920" cy="502920"/>
          </a:xfrm>
          <a:prstGeom prst="ellipse">
            <a:avLst/>
          </a:prstGeom>
          <a:solidFill>
            <a:srgbClr val="2A8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2485796"/>
            <a:ext cx="502920" cy="226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2395728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32D34"/>
                </a:solidFill>
                <a:latin typeface="Aptos"/>
              </a:defRPr>
            </a:pPr>
            <a:r>
              <a:t>Phase 3 VISIONARY showed a major reduction in proteinuria.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3282696"/>
            <a:ext cx="502920" cy="502920"/>
          </a:xfrm>
          <a:prstGeom prst="ellipse">
            <a:avLst/>
          </a:prstGeom>
          <a:solidFill>
            <a:srgbClr val="2A8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3418484"/>
            <a:ext cx="502920" cy="226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3328415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32D34"/>
                </a:solidFill>
                <a:latin typeface="Aptos"/>
              </a:defRPr>
            </a:pPr>
            <a:r>
              <a:t>Biomarker changes support the proposed mechanism.</a:t>
            </a:r>
          </a:p>
        </p:txBody>
      </p:sp>
      <p:sp>
        <p:nvSpPr>
          <p:cNvPr id="14" name="Oval 13"/>
          <p:cNvSpPr/>
          <p:nvPr/>
        </p:nvSpPr>
        <p:spPr>
          <a:xfrm>
            <a:off x="822960" y="4215384"/>
            <a:ext cx="502920" cy="502920"/>
          </a:xfrm>
          <a:prstGeom prst="ellipse">
            <a:avLst/>
          </a:prstGeom>
          <a:solidFill>
            <a:srgbClr val="2A8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351172"/>
            <a:ext cx="502920" cy="226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4261104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32D34"/>
                </a:solidFill>
                <a:latin typeface="Aptos"/>
              </a:defRPr>
            </a:pPr>
            <a:r>
              <a:t>The 2026 update adds encouraging evidence of preserved kidney function.</a:t>
            </a:r>
          </a:p>
        </p:txBody>
      </p:sp>
      <p:sp>
        <p:nvSpPr>
          <p:cNvPr id="17" name="Oval 16"/>
          <p:cNvSpPr/>
          <p:nvPr/>
        </p:nvSpPr>
        <p:spPr>
          <a:xfrm>
            <a:off x="822960" y="5148072"/>
            <a:ext cx="502920" cy="502920"/>
          </a:xfrm>
          <a:prstGeom prst="ellipse">
            <a:avLst/>
          </a:prstGeom>
          <a:solidFill>
            <a:srgbClr val="2A8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960" y="5283860"/>
            <a:ext cx="502920" cy="226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5193792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32D34"/>
                </a:solidFill>
                <a:latin typeface="Aptos"/>
              </a:defRPr>
            </a:pPr>
            <a:r>
              <a:t>Long-term kidney outcomes, safety, duration and cost remain key questions.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9747C"/>
                </a:solidFill>
                <a:latin typeface="Aptos"/>
              </a:defRPr>
            </a:pPr>
            <a:r>
              <a:t>Journal Club • VISIONARY Trial  | 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62A3E"/>
                </a:solidFill>
                <a:latin typeface="Aptos"/>
              </a:defRPr>
            </a:pPr>
            <a:r>
              <a:t>References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207008"/>
            <a:ext cx="914400" cy="54864"/>
          </a:xfrm>
          <a:prstGeom prst="rect">
            <a:avLst/>
          </a:prstGeom>
          <a:solidFill>
            <a:srgbClr val="2A8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4"/>
                </a:solidFill>
                <a:latin typeface="Aptos"/>
              </a:defRPr>
            </a:pPr>
            <a:r>
              <a:t>Perkovic V, Trimarchi H, Tesar V, et al. Sibeprenlimab in IgA Nephropathy — Interim Analysis of a Phase 3 Trial. New England Journal of Medicine. 2026;394:635–646. doi:10.1056/NEJMoa2512133.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8803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4"/>
                </a:solidFill>
                <a:latin typeface="Aptos"/>
              </a:defRPr>
            </a:pPr>
            <a:r>
              <a:t>VISIONARY Trial: NCT05248646. ClinicalTrials.gov.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749039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4"/>
                </a:solidFill>
                <a:latin typeface="Aptos"/>
              </a:defRPr>
            </a:pPr>
            <a:r>
              <a:t>2026 VISIONARY 24-month eGFR update: August 2026 late-breaking presentation / company and medical reporting.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8920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9747C"/>
                </a:solidFill>
                <a:latin typeface="Aptos"/>
              </a:defRPr>
            </a:pPr>
            <a:r>
              <a:t>Suggested visual sources: use the trial's published figures/CONSORT diagram where permitted, and cite the source directly on the slide.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9747C"/>
                </a:solidFill>
                <a:latin typeface="Aptos"/>
              </a:defRPr>
            </a:pPr>
            <a:r>
              <a:t>Journal Club • VISIONARY Trial  |  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156</TotalTime>
  <Words>827</Words>
  <Application>Microsoft Office PowerPoint</Application>
  <PresentationFormat>Widescreen</PresentationFormat>
  <Paragraphs>174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hp</cp:lastModifiedBy>
  <cp:revision>16</cp:revision>
  <dcterms:created xsi:type="dcterms:W3CDTF">2013-01-27T09:14:16Z</dcterms:created>
  <dcterms:modified xsi:type="dcterms:W3CDTF">2026-08-09T22:40:42Z</dcterms:modified>
  <cp:category/>
</cp:coreProperties>
</file>